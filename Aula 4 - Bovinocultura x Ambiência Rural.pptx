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421" r:id="rId2"/>
    <p:sldId id="427" r:id="rId3"/>
    <p:sldId id="439" r:id="rId4"/>
    <p:sldId id="462" r:id="rId5"/>
    <p:sldId id="447" r:id="rId6"/>
    <p:sldId id="448" r:id="rId7"/>
    <p:sldId id="463" r:id="rId8"/>
    <p:sldId id="449" r:id="rId9"/>
    <p:sldId id="466" r:id="rId10"/>
    <p:sldId id="450" r:id="rId11"/>
    <p:sldId id="467" r:id="rId12"/>
    <p:sldId id="468" r:id="rId13"/>
    <p:sldId id="464" r:id="rId14"/>
    <p:sldId id="465" r:id="rId15"/>
    <p:sldId id="451" r:id="rId16"/>
    <p:sldId id="469" r:id="rId17"/>
    <p:sldId id="452" r:id="rId18"/>
    <p:sldId id="453" r:id="rId19"/>
    <p:sldId id="472" r:id="rId20"/>
    <p:sldId id="470" r:id="rId21"/>
    <p:sldId id="471" r:id="rId22"/>
    <p:sldId id="454" r:id="rId23"/>
    <p:sldId id="455" r:id="rId24"/>
    <p:sldId id="456" r:id="rId25"/>
    <p:sldId id="473" r:id="rId26"/>
    <p:sldId id="457" r:id="rId27"/>
    <p:sldId id="458" r:id="rId28"/>
    <p:sldId id="459" r:id="rId29"/>
    <p:sldId id="460" r:id="rId30"/>
    <p:sldId id="461" r:id="rId31"/>
    <p:sldId id="30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10C8CFB6-1123-372D-F477-A6FAA024A17D}"/>
              </a:ext>
            </a:extLst>
          </p:cNvPr>
          <p:cNvSpPr/>
          <p:nvPr/>
        </p:nvSpPr>
        <p:spPr>
          <a:xfrm>
            <a:off x="-90072" y="0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Bovinocultura x Ambiência Rural</a:t>
            </a:r>
          </a:p>
        </p:txBody>
      </p:sp>
      <p:pic>
        <p:nvPicPr>
          <p:cNvPr id="3" name="Imagem 2" descr="Rebanho de ovelhas andando na grama&#10;&#10;O conteúdo gerado por IA pode estar incorreto.">
            <a:extLst>
              <a:ext uri="{FF2B5EF4-FFF2-40B4-BE49-F238E27FC236}">
                <a16:creationId xmlns:a16="http://schemas.microsoft.com/office/drawing/2014/main" id="{FC8C1127-0D78-2F67-EE5D-320C3AFD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2" y="1067176"/>
            <a:ext cx="5702561" cy="5702561"/>
          </a:xfrm>
          <a:prstGeom prst="rect">
            <a:avLst/>
          </a:prstGeom>
        </p:spPr>
      </p:pic>
      <p:pic>
        <p:nvPicPr>
          <p:cNvPr id="5" name="Imagem 4" descr="Rebanho de gado na estrada&#10;&#10;O conteúdo gerado por IA pode estar incorreto.">
            <a:extLst>
              <a:ext uri="{FF2B5EF4-FFF2-40B4-BE49-F238E27FC236}">
                <a16:creationId xmlns:a16="http://schemas.microsoft.com/office/drawing/2014/main" id="{D7A09F2E-8FB3-A42F-AE6E-CF0298D0A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67177"/>
            <a:ext cx="5702561" cy="570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C889B2-14DC-8DD5-BB00-B12D8CBFF58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2BCAD0-EB57-5FEE-A58D-99EDA52D8547}"/>
              </a:ext>
            </a:extLst>
          </p:cNvPr>
          <p:cNvSpPr txBox="1"/>
          <p:nvPr/>
        </p:nvSpPr>
        <p:spPr>
          <a:xfrm>
            <a:off x="9328" y="779881"/>
            <a:ext cx="12182672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arenR"/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Por que a bovinocultura de corte e leite é tão estratégica na economia? 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Porque ela é 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alimentar, gera renda, emprego e movimenta indústrias inteiras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Estratégica por: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Produzir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alimentos essenciais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carne e leite (proteína de alto valor biológico).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Ter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alta capilaridade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presente em praticamente todo o território nacional.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Sustentar milhões de empregos diretos e indiretos.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Movimentar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grande volume financeiro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com produção + industrialização + comércio.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Ter peso no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PIB do agronegócio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 nas exportações (principalmente corte).</a:t>
            </a:r>
          </a:p>
        </p:txBody>
      </p:sp>
    </p:spTree>
    <p:extLst>
      <p:ext uri="{BB962C8B-B14F-4D97-AF65-F5344CB8AC3E}">
        <p14:creationId xmlns:p14="http://schemas.microsoft.com/office/powerpoint/2010/main" val="111073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78EE20-CED0-A068-F9F2-ADD492245ABD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8F8040-04EC-79FB-537F-3F3DF8AA6570}"/>
              </a:ext>
            </a:extLst>
          </p:cNvPr>
          <p:cNvSpPr txBox="1"/>
          <p:nvPr/>
        </p:nvSpPr>
        <p:spPr>
          <a:xfrm>
            <a:off x="-1" y="657463"/>
            <a:ext cx="12182673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2) Cadeia produtiva: onde o setor gera dinheiro? </a:t>
            </a:r>
          </a:p>
          <a:p>
            <a:pPr algn="ctr">
              <a:lnSpc>
                <a:spcPct val="150000"/>
              </a:lnSpc>
            </a:pP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dinheiro não está só “na fazenda”: está em toda a cadeia.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2F64EB-67F8-7E16-C904-03B854BE35F2}"/>
              </a:ext>
            </a:extLst>
          </p:cNvPr>
          <p:cNvSpPr txBox="1"/>
          <p:nvPr/>
        </p:nvSpPr>
        <p:spPr>
          <a:xfrm>
            <a:off x="5840960" y="1614858"/>
            <a:ext cx="6351040" cy="442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A cadeia do leite gera dinheiro em: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Produção na propriedade (ordenha, manejo, alimentação);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Tanques e resfriamento;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Laticínios (pasteurização, UHT, queijos, iogurtes);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Insumos (milho, soja, silagem, concentrados);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Equipamentos (ordenhadeiras, robôs, resfriadores);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Distribuição e varejo;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Serviços técnicos (veterinários, agrônomos, consultorias).</a:t>
            </a:r>
            <a:endParaRPr lang="pt-BR" sz="19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0D49DA-4124-DAE9-751F-BB3A8730B3D1}"/>
              </a:ext>
            </a:extLst>
          </p:cNvPr>
          <p:cNvSpPr txBox="1"/>
          <p:nvPr/>
        </p:nvSpPr>
        <p:spPr>
          <a:xfrm>
            <a:off x="0" y="1628325"/>
            <a:ext cx="5784979" cy="4423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A cadeia da carne (corte) gera dinheiro em: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Cria, recria e engorda;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Nutrição animal (rações, suplementos minerais);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Melhoramento genético (touros, sêmen, embriões);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Medicamentos veterinários;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Frigoríficos e indústria da carne;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Transporte, logística e comércio;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Exportação e mercado interno (açougues, supermercados).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F589572-7E8F-2F85-D576-9D98B3252D21}"/>
              </a:ext>
            </a:extLst>
          </p:cNvPr>
          <p:cNvCxnSpPr>
            <a:cxnSpLocks/>
          </p:cNvCxnSpPr>
          <p:nvPr/>
        </p:nvCxnSpPr>
        <p:spPr>
          <a:xfrm>
            <a:off x="5784980" y="1614858"/>
            <a:ext cx="0" cy="458567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56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7459870F-AF63-5E9A-EA61-B9210114E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7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584FC4-3C15-265F-FFFB-21C0ED1AFB3F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FE05CA-E97D-DD8D-F1A2-A397439653A8}"/>
              </a:ext>
            </a:extLst>
          </p:cNvPr>
          <p:cNvSpPr txBox="1"/>
          <p:nvPr/>
        </p:nvSpPr>
        <p:spPr>
          <a:xfrm>
            <a:off x="0" y="779881"/>
            <a:ext cx="12182672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3) Mercado nacional: por que pesa tanto no Brasil?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Porque o Brasil reúne 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condições naturais e econômicas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muito favoráveis.</a:t>
            </a:r>
          </a:p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🇧🇷 O setor pesa no Brasil por: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Grande área de pastagens e clima favorável.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Forte mercado consumidor interno.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Presença de sistemas intensivos e extensivos (grande diversidade produtiva).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leite e a carne estão no dia a dia do brasileiro, com enorme demanda contínua.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Muitos municípios dependem da pecuária como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principal fonte econômica local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📌 Além disso: A pecuária “segura” a economia rural em muitas regiões onde lavouras não são tão viáveis.</a:t>
            </a:r>
          </a:p>
        </p:txBody>
      </p:sp>
    </p:spTree>
    <p:extLst>
      <p:ext uri="{BB962C8B-B14F-4D97-AF65-F5344CB8AC3E}">
        <p14:creationId xmlns:p14="http://schemas.microsoft.com/office/powerpoint/2010/main" val="381074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EBF1EF9-D1E8-8477-7EAC-7D0508B2E896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7C47ED-847C-722D-3BE1-A03CADC264FC}"/>
              </a:ext>
            </a:extLst>
          </p:cNvPr>
          <p:cNvSpPr txBox="1"/>
          <p:nvPr/>
        </p:nvSpPr>
        <p:spPr>
          <a:xfrm>
            <a:off x="9328" y="707886"/>
            <a:ext cx="12173344" cy="5301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4) Mercado internacional: por que ambas as bovinoculturas são fortes no comércio global?</a:t>
            </a:r>
          </a:p>
          <a:p>
            <a:pPr algn="just">
              <a:lnSpc>
                <a:spcPct val="150000"/>
              </a:lnSpc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🥩 Corte (carne bovina)</a:t>
            </a:r>
          </a:p>
          <a:p>
            <a:pPr algn="just">
              <a:lnSpc>
                <a:spcPct val="15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É um produto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altamente comercializado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, com grande demanda global por proteína animal.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Países importadores buscam: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volume + segurança + preço competitivo;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O Brasil se destaca por: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escala de produção e competitividade.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19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🥛 Leite e derivados</a:t>
            </a:r>
          </a:p>
          <a:p>
            <a:pPr algn="just">
              <a:lnSpc>
                <a:spcPct val="15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O leite “in natura” não viaja tão bem, mas seus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derivados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 têm alto valor comercial: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Leite em pó;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Queijos;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Manteiga;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Whey protein e ingredientes lácteos industriais</a:t>
            </a:r>
            <a:r>
              <a:rPr lang="pt-BR" sz="1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34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F66AD99B-1518-4619-ADF7-7C5E1BF7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68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E8765F-E6D8-BA67-B696-7C96ADF93099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C297D5-26C9-23D7-01EA-74DFADAE5555}"/>
              </a:ext>
            </a:extLst>
          </p:cNvPr>
          <p:cNvSpPr txBox="1"/>
          <p:nvPr/>
        </p:nvSpPr>
        <p:spPr>
          <a:xfrm>
            <a:off x="-10884" y="603514"/>
            <a:ext cx="12193556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5) O que move o crescimento do setor no mundo?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🌍 Os principais motores são: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Aumento populacional mundial: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Mais pessoas → mais demanda por alimentos.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Crescimento de renda em países emergentes: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Quando a renda sobe, aumenta o consumo de carne, leite e derivados.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Urbanização: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Consumidores urbanos demandam alimentos prontos e industrializados.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Tecnologia no campo: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aumenta produtividade e reduz custos.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Genética;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Nutrição;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Sanidade;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Manejo intensivo. 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Mercado de proteínas: </a:t>
            </a:r>
            <a:r>
              <a:rPr lang="pt-BR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Carne bovina e leite competem e se complementam com aves, suínos e alternativas — o setor cresce conforme </a:t>
            </a:r>
            <a:r>
              <a:rPr lang="pt-B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preferência cultural e renda</a:t>
            </a:r>
            <a:r>
              <a:rPr lang="pt-BR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23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E0D1E40D-EFE2-0074-3F2E-BD1D9BC97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71" y="0"/>
            <a:ext cx="10319658" cy="687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45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2A2668-0A06-7545-44C2-5B786DAD2F80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E5C3343-F57F-94E0-7B72-0B71C6007576}"/>
              </a:ext>
            </a:extLst>
          </p:cNvPr>
          <p:cNvSpPr txBox="1"/>
          <p:nvPr/>
        </p:nvSpPr>
        <p:spPr>
          <a:xfrm>
            <a:off x="-10884" y="726548"/>
            <a:ext cx="12193556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6) Por que isso interessa diretamente à Engenharia Agronômica?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Porque o agrônomo participa do </a:t>
            </a: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coração produtivo</a:t>
            </a:r>
            <a:r>
              <a:rPr lang="pt-BR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pecuária: o sistema de produção.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👨‍🌾 A Engenharia Agronômica atua em: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Produção de pastagens e forragens (base alimentar do rebanho);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Correção e fertilidade do solo;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Irrigação e manejo hídrico;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Planejamento de sistemas integrados (ILP/ILPF);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Produção de silagem (milho, sorgo, capins);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Gestão econômica e eficiência produtiva;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Sustentabilidade e mitigação ambiental;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Recuperação de pastagens degradadas.</a:t>
            </a:r>
          </a:p>
        </p:txBody>
      </p:sp>
    </p:spTree>
    <p:extLst>
      <p:ext uri="{BB962C8B-B14F-4D97-AF65-F5344CB8AC3E}">
        <p14:creationId xmlns:p14="http://schemas.microsoft.com/office/powerpoint/2010/main" val="141138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Calendário&#10;&#10;O conteúdo gerado por IA pode estar incorreto.">
            <a:extLst>
              <a:ext uri="{FF2B5EF4-FFF2-40B4-BE49-F238E27FC236}">
                <a16:creationId xmlns:a16="http://schemas.microsoft.com/office/drawing/2014/main" id="{57401C96-7E70-BB2B-D1B5-2C0449157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02" y="-5039"/>
            <a:ext cx="10300996" cy="68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6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78EE20-CED0-A068-F9F2-ADD492245ABD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8F8040-04EC-79FB-537F-3F3DF8AA6570}"/>
              </a:ext>
            </a:extLst>
          </p:cNvPr>
          <p:cNvSpPr txBox="1"/>
          <p:nvPr/>
        </p:nvSpPr>
        <p:spPr>
          <a:xfrm>
            <a:off x="-1" y="657463"/>
            <a:ext cx="12182673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7) Indicadores econômicos e produtivos que “mandam” no resultado</a:t>
            </a:r>
          </a:p>
          <a:p>
            <a:pPr algn="ctr">
              <a:lnSpc>
                <a:spcPct val="150000"/>
              </a:lnSpc>
            </a:pPr>
            <a:r>
              <a:rPr lang="pt-BR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 estão os indicadores que mais determinam lucro/prejuízo: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2F64EB-67F8-7E16-C904-03B854BE35F2}"/>
              </a:ext>
            </a:extLst>
          </p:cNvPr>
          <p:cNvSpPr txBox="1"/>
          <p:nvPr/>
        </p:nvSpPr>
        <p:spPr>
          <a:xfrm>
            <a:off x="5840960" y="1614858"/>
            <a:ext cx="6351040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🥛 Na bovinocultura leiteira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Produção por vaca/dia (L/vaca/dia)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Produção por hectare (L/ha/ano)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Teores de gordura e proteína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CCS (contagem de células somáticas)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CBT (contagem bacteriana total)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Taxa de prenhez e intervalo entre partos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Custo alimentar por litro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Custo de produção por litro e margem sobre custo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0D49DA-4124-DAE9-751F-BB3A8730B3D1}"/>
              </a:ext>
            </a:extLst>
          </p:cNvPr>
          <p:cNvSpPr txBox="1"/>
          <p:nvPr/>
        </p:nvSpPr>
        <p:spPr>
          <a:xfrm>
            <a:off x="0" y="1628325"/>
            <a:ext cx="5784979" cy="419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🥩 Na bovinocultura de corte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Ganho de peso diário (GMD).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Taxa de lotação (UA/ha).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Taxa de prenhez / natalidade.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Idade ao abate.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Rendimento de carcaça (%).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Conversão alimentar (em confinamento).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Custo por arroba produzida.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Preço da arroba e margem líquida.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F589572-7E8F-2F85-D576-9D98B3252D21}"/>
              </a:ext>
            </a:extLst>
          </p:cNvPr>
          <p:cNvCxnSpPr>
            <a:cxnSpLocks/>
          </p:cNvCxnSpPr>
          <p:nvPr/>
        </p:nvCxnSpPr>
        <p:spPr>
          <a:xfrm>
            <a:off x="5784980" y="1614858"/>
            <a:ext cx="0" cy="458567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30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2FEC153-0563-7402-7871-B44CC0F6E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48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F1B58C49-7B3B-4CB5-E366-ECAC2ED9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44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C889B2-14DC-8DD5-BB00-B12D8CBFF58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F1A343-836E-6599-B4BA-A7F1828657D8}"/>
              </a:ext>
            </a:extLst>
          </p:cNvPr>
          <p:cNvSpPr txBox="1"/>
          <p:nvPr/>
        </p:nvSpPr>
        <p:spPr>
          <a:xfrm>
            <a:off x="18656" y="707886"/>
            <a:ext cx="12173344" cy="553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7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1) O que é “ambiência” em bovinocultura (leite e corte)</a:t>
            </a:r>
          </a:p>
          <a:p>
            <a:pPr algn="just">
              <a:lnSpc>
                <a:spcPct val="150000"/>
              </a:lnSpc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Ambiência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 é o conjunto de condições do </a:t>
            </a: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microclima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 e do </a:t>
            </a: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ambiente físico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 onde o bovino vive (pasto, curral, confinamento, compost barn, </a:t>
            </a: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free-stall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), que determinam se o animal consegue manter: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Equilíbrio térmico;</a:t>
            </a: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Bem-estar comportamental;</a:t>
            </a: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Sanidade;</a:t>
            </a: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Desempenho produtivo.</a:t>
            </a: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pt-BR" sz="17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outras palavras: </a:t>
            </a:r>
            <a:r>
              <a:rPr lang="pt-BR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ambiência boa = bovino usa energia para </a:t>
            </a:r>
            <a:r>
              <a:rPr lang="pt-BR" sz="17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produzir</a:t>
            </a:r>
            <a:r>
              <a:rPr lang="pt-BR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(leite ou carne) e ambiência ruim = bovino usa energia para </a:t>
            </a:r>
            <a:r>
              <a:rPr lang="pt-BR" sz="17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sobreviver ao ambiente</a:t>
            </a:r>
            <a:endParaRPr lang="pt-BR" sz="17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A ambiência em bovinos é sustentada por 4 pilares: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Clima do ambiente: 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temperatura, umidade, vento/ventilação, radiação solar, chuva e lama.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Qualidade do ar (especialmente em sistemas intensivos): 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poeira, gases, micro-organismos, umidade e odores.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Conforto físico: 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sombra, piso, cama (free-stall/compost), espaço, acesso a água e alimento.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pt-BR" sz="1700" b="1" dirty="0">
                <a:latin typeface="Arial" panose="020B0604020202020204" pitchFamily="34" charset="0"/>
                <a:cs typeface="Arial" panose="020B0604020202020204" pitchFamily="34" charset="0"/>
              </a:rPr>
              <a:t>Manejo e biosseguridade: </a:t>
            </a: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rotina, higiene, sanidade, manejo de lotes, estresse e treinamento de pessoas.</a:t>
            </a:r>
          </a:p>
        </p:txBody>
      </p:sp>
    </p:spTree>
    <p:extLst>
      <p:ext uri="{BB962C8B-B14F-4D97-AF65-F5344CB8AC3E}">
        <p14:creationId xmlns:p14="http://schemas.microsoft.com/office/powerpoint/2010/main" val="33516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C1833F66-6204-5785-1081-1BE1BD009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36" y="0"/>
            <a:ext cx="10310327" cy="68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9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DF1C2C-DFFA-5995-5D36-EE58E8B2C887}"/>
              </a:ext>
            </a:extLst>
          </p:cNvPr>
          <p:cNvSpPr txBox="1"/>
          <p:nvPr/>
        </p:nvSpPr>
        <p:spPr>
          <a:xfrm>
            <a:off x="0" y="707886"/>
            <a:ext cx="12182672" cy="5301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2) Fisiologia térmica dos bovinos (como eles lidam com calor e frio)</a:t>
            </a:r>
          </a:p>
          <a:p>
            <a:pPr algn="just">
              <a:lnSpc>
                <a:spcPct val="150000"/>
              </a:lnSpc>
            </a:pPr>
            <a:r>
              <a:rPr lang="pt-BR" sz="1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bovinos são </a:t>
            </a:r>
            <a:r>
              <a:rPr lang="pt-BR" sz="19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homeotérmicos</a:t>
            </a:r>
            <a:r>
              <a:rPr lang="pt-BR" sz="1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têm uma faixa ótima de conforto térmico (zona de neutralidade térmica).</a:t>
            </a:r>
            <a:br>
              <a:rPr lang="pt-BR" sz="1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Quando saem dessa zona, entram em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estresse térmico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Como o bovino perde calor: Convecção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: vento/ventilação passando sobre o corpo.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Radiação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: troca de calor com superfícies e o sol.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Evaporação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: suor e respiração (importante no calor).</a:t>
            </a:r>
          </a:p>
          <a:p>
            <a:pPr algn="just">
              <a:lnSpc>
                <a:spcPct val="150000"/>
              </a:lnSpc>
            </a:pP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O que acontece no calor (estresse por calor): </a:t>
            </a:r>
            <a:r>
              <a:rPr lang="pt-BR" sz="19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 de matéria seca ↓, ruminação ↓, água ↑, frequência respiratória ↑, aumento da temperatura corporal, queda de imunidade e piora reprodutiva. </a:t>
            </a:r>
          </a:p>
          <a:p>
            <a:pPr algn="just">
              <a:lnSpc>
                <a:spcPct val="150000"/>
              </a:lnSpc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📌 Impacto prático: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corte:</a:t>
            </a:r>
            <a:r>
              <a:rPr lang="pt-BR" sz="19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reduz ganho de peso e piora conversão alimentar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leite:</a:t>
            </a:r>
            <a:r>
              <a:rPr lang="pt-BR" sz="19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cai produção e cai teor de gordura/proteína</a:t>
            </a:r>
          </a:p>
          <a:p>
            <a:pPr algn="just">
              <a:lnSpc>
                <a:spcPct val="150000"/>
              </a:lnSpc>
            </a:pPr>
            <a:r>
              <a:rPr lang="pt-BR" sz="19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 no frio extremo + chuva + vento: 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maior gasto energético para manter temperatura, perda de condição corporal e maior risco de doenças respiratórias e lama (casco).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79B095-B835-D65A-E232-41D1775072A5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1C22EA-0CEF-0E0E-C7C2-CFC99069B3C2}"/>
              </a:ext>
            </a:extLst>
          </p:cNvPr>
          <p:cNvSpPr txBox="1"/>
          <p:nvPr/>
        </p:nvSpPr>
        <p:spPr>
          <a:xfrm>
            <a:off x="-10884" y="590204"/>
            <a:ext cx="12202884" cy="5756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3) Temperatura, umidade e ventilação: o trio que manda no desempenho</a:t>
            </a:r>
            <a:endParaRPr lang="pt-BR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3.1 Temperatura (T)</a:t>
            </a:r>
            <a:r>
              <a:rPr lang="pt-BR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objetivo é reduzir a carga térmica e manter o animal confortável.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Bezerros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sofrem muito com frio e correntes de ar → precisam de abrigo.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vacas leiteiras de alta produção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sofrem muito com calor → geram calor metabólico alto.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bovinos de corte em confinamento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sofrem com calor + poeira + lotação alta.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Ponto forte para sala: </a:t>
            </a:r>
            <a:r>
              <a:rPr lang="pt-BR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quanto mais produtivo o animal (mais leite ou alto ganho no cocho), mais sensível ao calor ele fica.</a:t>
            </a:r>
            <a:endParaRPr lang="pt-BR" kern="100" dirty="0">
              <a:solidFill>
                <a:srgbClr val="C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3.2 Umidade relativa (UR)</a:t>
            </a:r>
            <a:r>
              <a:rPr lang="pt-BR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umidade altera a capacidade do bovino de perder calor por evaporação.</a:t>
            </a:r>
          </a:p>
          <a:p>
            <a:pPr marL="228600" indent="-2286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 alta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+ calor = estresse térmico muito pior</a:t>
            </a:r>
            <a:r>
              <a:rPr lang="pt-B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animal “não consegue resfriar” bem pela respiração/suor</a:t>
            </a:r>
          </a:p>
          <a:p>
            <a:pPr marL="228600" indent="-2286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 muito baixa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poeira aumenta (confinamento) → problemas respiratórios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3.3 Ventilação (o “motor invisível” do conforto): </a:t>
            </a:r>
            <a:r>
              <a:rPr lang="pt-BR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ventilação faz 3 funções ao mesmo tempo:</a:t>
            </a:r>
          </a:p>
          <a:p>
            <a:pPr marL="228600" indent="-2286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remove calor (ajuda convecção);</a:t>
            </a:r>
          </a:p>
          <a:p>
            <a:pPr marL="228600" indent="-2286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reduz umidade em cama/piso;</a:t>
            </a:r>
          </a:p>
          <a:p>
            <a:pPr marL="228600" indent="-228600" algn="just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melhora qualidade do ar (menos gases e microrganismos).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FDA64C6-40F8-A88F-A48C-DB90FD847BFA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98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de um animal&#10;&#10;O conteúdo gerado por IA pode estar incorreto.">
            <a:extLst>
              <a:ext uri="{FF2B5EF4-FFF2-40B4-BE49-F238E27FC236}">
                <a16:creationId xmlns:a16="http://schemas.microsoft.com/office/drawing/2014/main" id="{E17604E8-E501-D5B3-463A-72D7764F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63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88E32A6-98FC-6827-A5D2-7CE75F5E1364}"/>
              </a:ext>
            </a:extLst>
          </p:cNvPr>
          <p:cNvSpPr txBox="1"/>
          <p:nvPr/>
        </p:nvSpPr>
        <p:spPr>
          <a:xfrm>
            <a:off x="0" y="473229"/>
            <a:ext cx="12182671" cy="6036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i="0" dirty="0">
                <a:solidFill>
                  <a:srgbClr val="DA1A3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que é estresse térmico?</a:t>
            </a:r>
          </a:p>
          <a:p>
            <a:pPr algn="just">
              <a:lnSpc>
                <a:spcPct val="150000"/>
              </a:lnSpc>
            </a:pPr>
            <a:r>
              <a:rPr lang="pt-BR" sz="2000" b="0" i="0" dirty="0">
                <a:solidFill>
                  <a:srgbClr val="3E3E3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estresse térmico ocorre quando o animal não consegue equilibrar a temperatura do corpo com a do ambiente, comprometendo sua saúde, bem-estar e desempenho produtivo. Esse desequilíbrio pode ser causado por condições ambientais como altas temperaturas, alta umidade do ar e radiação solar intensa.</a:t>
            </a:r>
          </a:p>
          <a:p>
            <a:pPr algn="just">
              <a:lnSpc>
                <a:spcPct val="150000"/>
              </a:lnSpc>
            </a:pPr>
            <a:r>
              <a:rPr lang="pt-BR" sz="2000" b="1" i="0" dirty="0">
                <a:solidFill>
                  <a:srgbClr val="3E3E3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chamada "zona de conforto térmico" dos bovinos varia entre 5 °C e 20 °C, podendo mudar conforme a raça, a idade e o estágio fisiológico do animal. Quando a temperatura ambiente ultrapassa essa faixa, o organismo dos bovinos entra em alerta, e o desempenho zootécnico é prejudicado.</a:t>
            </a:r>
          </a:p>
          <a:p>
            <a:pPr algn="just">
              <a:lnSpc>
                <a:spcPct val="150000"/>
              </a:lnSpc>
            </a:pPr>
            <a:r>
              <a:rPr lang="pt-BR" sz="2000" b="0" i="0" dirty="0">
                <a:solidFill>
                  <a:srgbClr val="3E3E3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Estudos indicam que o estresse térmico pode reduzir em até 35% a produção de leite, além de comprometer a qualidade do produto — com menores níveis de gordura, proteína e sólidos totais. Nas fazendas de corte, o problema também afeta a eficiência alimentar, o ganho de peso, a qualidade da carne e a taxa de conversão. Além disso, há maior incidência de problemas reprodutivos, abortos e mortalidade de bezerros.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8957479-2D7B-B10C-00FA-3C441C521740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EFD94A-C479-1133-B501-A832BFCD8CCA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C8FD9B9-2DE4-AFE8-16BD-179207BFB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857A2FEC-8767-5414-627B-226A578C395F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</p:spTree>
    <p:extLst>
      <p:ext uri="{BB962C8B-B14F-4D97-AF65-F5344CB8AC3E}">
        <p14:creationId xmlns:p14="http://schemas.microsoft.com/office/powerpoint/2010/main" val="3780883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8957479-2D7B-B10C-00FA-3C441C521740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760AF7E-B3B2-5D2F-0520-DB8EA739C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7" y="1135255"/>
            <a:ext cx="5704635" cy="484355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4D32C88-D3A1-909B-821B-F9BAE77C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336" y="2105620"/>
            <a:ext cx="5899247" cy="264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32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387DAC-7BF9-8597-C4EA-CE65F01DB5DC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D59A65-000F-F831-A08B-AA544E8EEEAC}"/>
              </a:ext>
            </a:extLst>
          </p:cNvPr>
          <p:cNvSpPr txBox="1"/>
          <p:nvPr/>
        </p:nvSpPr>
        <p:spPr>
          <a:xfrm>
            <a:off x="9328" y="889843"/>
            <a:ext cx="12173344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4) Qualidade do ar: o que derruba sanidade e desempenho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Poeira e gases (sistemas intensivos)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confinamento e instalações fechadas, pode haver: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poeira (ração + solo seco), gás amônia (NH₃) de esterco e urina e umidade elevada em camas.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Consequências: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irritação de vias respiratórias;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predisposição a pneumonia;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estresse e queda de consumo.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leite (free-stall/compost):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cama úmida e quente → aumenta patógenos ambientais.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Mastite: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Piora qualidade do leite (ex.: CCS alta).</a:t>
            </a:r>
          </a:p>
        </p:txBody>
      </p:sp>
    </p:spTree>
    <p:extLst>
      <p:ext uri="{BB962C8B-B14F-4D97-AF65-F5344CB8AC3E}">
        <p14:creationId xmlns:p14="http://schemas.microsoft.com/office/powerpoint/2010/main" val="152799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0CFCE69-2E71-E6A9-2A77-ED25125FB77D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CCF5F3-B244-C72C-1846-447D0FB32FA1}"/>
              </a:ext>
            </a:extLst>
          </p:cNvPr>
          <p:cNvSpPr txBox="1"/>
          <p:nvPr/>
        </p:nvSpPr>
        <p:spPr>
          <a:xfrm>
            <a:off x="-10884" y="850489"/>
            <a:ext cx="12202884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5) Piso, cama, lama e umidade: base do conforto e sanidade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 é “engenharia sanitária” também, como a cama do aviário.</a:t>
            </a:r>
          </a:p>
          <a:p>
            <a:pPr>
              <a:lnSpc>
                <a:spcPct val="150000"/>
              </a:lnSpc>
            </a:pPr>
            <a:endParaRPr lang="pt-BR" sz="22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Em bovinos de leite: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Cama boa (seca e confortável) reduz: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estresse, mastite ambiental e claudicação.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Cama ruim (úmida/suja) aumenta: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mastite, CCS alta, lesões e descarte precoce.</a:t>
            </a:r>
          </a:p>
          <a:p>
            <a:pPr>
              <a:lnSpc>
                <a:spcPct val="150000"/>
              </a:lnSpc>
            </a:pPr>
            <a:endParaRPr lang="pt-BR" sz="22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Em bovinos de corte: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Piso seco melhora: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conforto, consumo no cocho e desempenho.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Lama aumenta: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gasto energético, estresse, problemas de casco e piora de ganho de peso.</a:t>
            </a:r>
          </a:p>
        </p:txBody>
      </p:sp>
    </p:spTree>
    <p:extLst>
      <p:ext uri="{BB962C8B-B14F-4D97-AF65-F5344CB8AC3E}">
        <p14:creationId xmlns:p14="http://schemas.microsoft.com/office/powerpoint/2010/main" val="312455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3CE7DD-9794-45A3-5BEA-B1432441E33F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26F8B6-AA01-3FD7-8B7C-98252BA305E7}"/>
              </a:ext>
            </a:extLst>
          </p:cNvPr>
          <p:cNvSpPr txBox="1"/>
          <p:nvPr/>
        </p:nvSpPr>
        <p:spPr>
          <a:xfrm>
            <a:off x="0" y="1003815"/>
            <a:ext cx="12182671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pt-BR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Densidade animal: produtividade por área vs. risco ambiental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Densidade elevada piora tudo: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calor metabólico coletivo ↑, umidade e esterco ↑, competição por espaço ↑ e estresse social ↑.</a:t>
            </a:r>
          </a:p>
          <a:p>
            <a:pPr>
              <a:lnSpc>
                <a:spcPct val="150000"/>
              </a:lnSpc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Leite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Lotação alta em free-stall → vaca deita menos → estresse → leite cai.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Falta de espaço = briga no cocho e bebedouro.</a:t>
            </a:r>
          </a:p>
          <a:p>
            <a:pPr>
              <a:lnSpc>
                <a:spcPct val="150000"/>
              </a:lnSpc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Corte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Lotação alta no curral de confinamento → mais lama, mais calor, menos desempenho.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522F85-B025-A6DD-DB23-D6F888D1EFBB}"/>
              </a:ext>
            </a:extLst>
          </p:cNvPr>
          <p:cNvSpPr txBox="1"/>
          <p:nvPr/>
        </p:nvSpPr>
        <p:spPr>
          <a:xfrm rot="20575975">
            <a:off x="217253" y="3076694"/>
            <a:ext cx="11748164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Não é “quantos animais”, é “quantos animais com estrutura para suportar”.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50558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E527BC08-EA07-72F0-6F7A-87E51139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7C91EE0-4CF0-515A-BCB8-1E3DC1841938}"/>
              </a:ext>
            </a:extLst>
          </p:cNvPr>
          <p:cNvSpPr/>
          <p:nvPr/>
        </p:nvSpPr>
        <p:spPr>
          <a:xfrm>
            <a:off x="2901820" y="6027576"/>
            <a:ext cx="6578082" cy="606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68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9FCA39F-35E3-4ADB-139A-169EB4303A1C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104CC-658E-7BAA-469A-25FF511A05CB}"/>
              </a:ext>
            </a:extLst>
          </p:cNvPr>
          <p:cNvSpPr txBox="1"/>
          <p:nvPr/>
        </p:nvSpPr>
        <p:spPr>
          <a:xfrm>
            <a:off x="-10884" y="913456"/>
            <a:ext cx="12182672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7) Iluminação e rotina: efeito em comportamento e produção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bovinos, a luz não é tão “hormonal” quanto em postura, mas influencia: atividade e comportamento, rotina de consumo e descanso e manejo e bem-estar em instalações.</a:t>
            </a:r>
          </a:p>
          <a:p>
            <a:pPr>
              <a:lnSpc>
                <a:spcPct val="150000"/>
              </a:lnSpc>
            </a:pPr>
            <a:endParaRPr lang="pt-BR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Leite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Rotina estável de ordenha + conforto = mais leite.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Sombra e conforto reduzem estresse.</a:t>
            </a:r>
          </a:p>
          <a:p>
            <a:pPr>
              <a:lnSpc>
                <a:spcPct val="150000"/>
              </a:lnSpc>
            </a:pPr>
            <a:endParaRPr lang="pt-BR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Corte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Conforto e rotina de trato influenciam consumo e ganho.</a:t>
            </a:r>
          </a:p>
        </p:txBody>
      </p:sp>
    </p:spTree>
    <p:extLst>
      <p:ext uri="{BB962C8B-B14F-4D97-AF65-F5344CB8AC3E}">
        <p14:creationId xmlns:p14="http://schemas.microsoft.com/office/powerpoint/2010/main" val="407291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ACC210-8C2E-C40A-3735-3157374DD319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93371E-CD43-EB58-7E58-2DA2F212A6DF}"/>
              </a:ext>
            </a:extLst>
          </p:cNvPr>
          <p:cNvSpPr txBox="1"/>
          <p:nvPr/>
        </p:nvSpPr>
        <p:spPr>
          <a:xfrm>
            <a:off x="9328" y="707886"/>
            <a:ext cx="12173344" cy="557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8) Diferenças práticas: corte x leite na ambiência</a:t>
            </a:r>
            <a:endParaRPr lang="pt-BR" sz="20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🥩 Bovinos de corte (objetivo: ganho e eficiência)</a:t>
            </a:r>
            <a:endParaRPr lang="pt-BR" sz="20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Foco em:</a:t>
            </a:r>
            <a:r>
              <a:rPr lang="pt-BR" sz="2000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ganho de peso diário, eficiência alimentar, redução de estresse, doenças e conforto em pasto ou confinamento.</a:t>
            </a: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Ambiência crítica em: </a:t>
            </a:r>
            <a:r>
              <a:rPr lang="pt-BR" sz="20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onfinamento (calor, poeira, lama, cocho, água)</a:t>
            </a:r>
            <a:r>
              <a:rPr lang="pt-BR" sz="20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t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ransporte e manejo (estresse derruba desempenho).</a:t>
            </a:r>
          </a:p>
          <a:p>
            <a:pPr algn="just">
              <a:lnSpc>
                <a:spcPct val="150000"/>
              </a:lnSpc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🥛 Bovinos de leite (objetivo: produção + qualidade + persistência)</a:t>
            </a:r>
            <a:endParaRPr lang="pt-BR" sz="20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Foco em: 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conforto e tempo de descanso (deitar é essencial), evitar estresse térmico (muito sensível), reduzir mastite e problemas podais e manter qualidade do leite.</a:t>
            </a: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Ambiência afeta diretamente: 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litros/dia, gordura e proteína, CCS/CBT e fertilidade e intervalo entre partos.</a:t>
            </a:r>
          </a:p>
        </p:txBody>
      </p:sp>
    </p:spTree>
    <p:extLst>
      <p:ext uri="{BB962C8B-B14F-4D97-AF65-F5344CB8AC3E}">
        <p14:creationId xmlns:p14="http://schemas.microsoft.com/office/powerpoint/2010/main" val="94036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A8BA8D-D423-B328-402D-B68BCDA915AD}"/>
              </a:ext>
            </a:extLst>
          </p:cNvPr>
          <p:cNvSpPr txBox="1"/>
          <p:nvPr/>
        </p:nvSpPr>
        <p:spPr>
          <a:xfrm>
            <a:off x="-10885" y="866526"/>
            <a:ext cx="6663611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9) Ferramentas de manejo ambiental (bovinos)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Em leite (muito usado em intensivos)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sombreamento (natural ou artificial).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Ventiladores.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aspersores (molha o dorso) + ventilação (evaporação).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free-stall bem dimensionado.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compost barn com manejo correto da cama.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resfriamento na sala de espera da ordenha.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Em corte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sombra em pasto e confinamento.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bebedouros bem distribuídos.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manejo de lama (drenagem e piso).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dimensionamento de cocho.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estratégias de arraçoamento em horários mais frescos.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FD61618-6F26-982A-BB9D-84F7235B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431" y="1014233"/>
            <a:ext cx="6564222" cy="482953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B4E5D64-552C-9E37-ECBE-99F69BBA01B4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67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A6F13B4-9E30-0FD0-B08B-75DAE65496F1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Bovino de Cort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 e Leite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592208-FA51-FFA2-8B48-9CCECF13CA24}"/>
              </a:ext>
            </a:extLst>
          </p:cNvPr>
          <p:cNvSpPr txBox="1"/>
          <p:nvPr/>
        </p:nvSpPr>
        <p:spPr>
          <a:xfrm>
            <a:off x="-10884" y="707886"/>
            <a:ext cx="12202884" cy="5364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10) O que medir e acompanhar (visão de Engenharia)</a:t>
            </a:r>
          </a:p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Ambiente: </a:t>
            </a:r>
            <a:r>
              <a:rPr lang="pt-BR" sz="2100" dirty="0">
                <a:latin typeface="Arial" panose="020B0604020202020204" pitchFamily="34" charset="0"/>
                <a:cs typeface="Arial" panose="020B0604020202020204" pitchFamily="34" charset="0"/>
              </a:rPr>
              <a:t>temperatura e umidade (e cálculo de THI), velocidade do vento / ventilação, radiação solar e sombreamento, condição do piso (seca ou lama) e qualidade da cama (umidade/temperatura).</a:t>
            </a:r>
          </a:p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Animal:</a:t>
            </a:r>
          </a:p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sinais de estresse por calor: </a:t>
            </a:r>
            <a:r>
              <a:rPr lang="pt-BR" sz="2100" dirty="0">
                <a:latin typeface="Arial" panose="020B0604020202020204" pitchFamily="34" charset="0"/>
                <a:cs typeface="Arial" panose="020B0604020202020204" pitchFamily="34" charset="0"/>
              </a:rPr>
              <a:t>respiração ofegante, salivação, aglomeração na sombra e menos ruminação.</a:t>
            </a:r>
          </a:p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indicadores de desempenho:</a:t>
            </a:r>
          </a:p>
          <a:p>
            <a:pPr algn="just">
              <a:lnSpc>
                <a:spcPct val="150000"/>
              </a:lnSpc>
            </a:pPr>
            <a:r>
              <a:rPr lang="pt-BR" sz="2100" b="1" dirty="0">
                <a:latin typeface="Arial" panose="020B0604020202020204" pitchFamily="34" charset="0"/>
                <a:cs typeface="Arial" panose="020B0604020202020204" pitchFamily="34" charset="0"/>
              </a:rPr>
              <a:t>Leite: </a:t>
            </a:r>
            <a:r>
              <a:rPr lang="pt-BR" sz="2100" dirty="0">
                <a:latin typeface="Arial" panose="020B0604020202020204" pitchFamily="34" charset="0"/>
                <a:cs typeface="Arial" panose="020B0604020202020204" pitchFamily="34" charset="0"/>
              </a:rPr>
              <a:t>litros/vaca/dia, gordura e proteína, CCS, CBT e taxa de prenhez e intervalo entre partos.</a:t>
            </a:r>
          </a:p>
          <a:p>
            <a:pPr algn="just">
              <a:lnSpc>
                <a:spcPct val="150000"/>
              </a:lnSpc>
            </a:pPr>
            <a:r>
              <a:rPr lang="pt-BR" sz="2100" b="1" dirty="0">
                <a:latin typeface="Arial" panose="020B0604020202020204" pitchFamily="34" charset="0"/>
                <a:cs typeface="Arial" panose="020B0604020202020204" pitchFamily="34" charset="0"/>
              </a:rPr>
              <a:t>Corte: </a:t>
            </a:r>
            <a:r>
              <a:rPr lang="pt-BR" sz="2100" dirty="0">
                <a:latin typeface="Arial" panose="020B0604020202020204" pitchFamily="34" charset="0"/>
                <a:cs typeface="Arial" panose="020B0604020202020204" pitchFamily="34" charset="0"/>
              </a:rPr>
              <a:t>ganho médio diário, consumo e eficiência alimentar, incidência de doenças e mortalidade e refugo.</a:t>
            </a:r>
          </a:p>
        </p:txBody>
      </p:sp>
    </p:spTree>
    <p:extLst>
      <p:ext uri="{BB962C8B-B14F-4D97-AF65-F5344CB8AC3E}">
        <p14:creationId xmlns:p14="http://schemas.microsoft.com/office/powerpoint/2010/main" val="89761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9FC974AD-1DF9-0CAD-8B0F-7BBBFA13D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65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pessoa, no interior, em pé, homem&#10;&#10;O conteúdo gerado por IA pode estar incorreto.">
            <a:extLst>
              <a:ext uri="{FF2B5EF4-FFF2-40B4-BE49-F238E27FC236}">
                <a16:creationId xmlns:a16="http://schemas.microsoft.com/office/drawing/2014/main" id="{931B735A-568C-7228-C628-E0A9C27E7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5" y="0"/>
            <a:ext cx="10300997" cy="68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433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6160</TotalTime>
  <Words>2584</Words>
  <Application>Microsoft Office PowerPoint</Application>
  <PresentationFormat>Widescreen</PresentationFormat>
  <Paragraphs>237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Arial</vt:lpstr>
      <vt:lpstr>Symbol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BEATRIZ</dc:creator>
  <cp:lastModifiedBy>Emmanuel Zullo Godinho</cp:lastModifiedBy>
  <cp:revision>219</cp:revision>
  <dcterms:created xsi:type="dcterms:W3CDTF">2022-02-24T16:45:54Z</dcterms:created>
  <dcterms:modified xsi:type="dcterms:W3CDTF">2026-04-17T19:38:34Z</dcterms:modified>
</cp:coreProperties>
</file>