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42" r:id="rId3"/>
    <p:sldId id="421" r:id="rId4"/>
    <p:sldId id="416" r:id="rId5"/>
    <p:sldId id="422" r:id="rId6"/>
    <p:sldId id="423" r:id="rId7"/>
    <p:sldId id="417" r:id="rId8"/>
    <p:sldId id="424" r:id="rId9"/>
    <p:sldId id="425" r:id="rId10"/>
    <p:sldId id="418" r:id="rId11"/>
    <p:sldId id="426" r:id="rId12"/>
    <p:sldId id="427" r:id="rId13"/>
    <p:sldId id="419" r:id="rId14"/>
    <p:sldId id="428" r:id="rId15"/>
    <p:sldId id="429" r:id="rId16"/>
    <p:sldId id="420" r:id="rId17"/>
    <p:sldId id="431" r:id="rId18"/>
    <p:sldId id="430" r:id="rId19"/>
    <p:sldId id="30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46" autoAdjust="0"/>
    <p:restoredTop sz="94660"/>
  </p:normalViewPr>
  <p:slideViewPr>
    <p:cSldViewPr snapToGrid="0">
      <p:cViewPr varScale="1">
        <p:scale>
          <a:sx n="82" d="100"/>
          <a:sy n="82" d="100"/>
        </p:scale>
        <p:origin x="9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D536E0E-1EFD-46C6-1308-C821A56E4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727" y="0"/>
            <a:ext cx="10274726" cy="6845536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614E4DF2-A836-1CD4-5357-047855FB6764}"/>
              </a:ext>
            </a:extLst>
          </p:cNvPr>
          <p:cNvSpPr/>
          <p:nvPr/>
        </p:nvSpPr>
        <p:spPr>
          <a:xfrm>
            <a:off x="1343608" y="159441"/>
            <a:ext cx="880809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CONSTRUÇÕES RURAIS </a:t>
            </a:r>
            <a:endParaRPr lang="pt-BR" sz="4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066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ixaDeTexto 21">
            <a:extLst>
              <a:ext uri="{FF2B5EF4-FFF2-40B4-BE49-F238E27FC236}">
                <a16:creationId xmlns:a16="http://schemas.microsoft.com/office/drawing/2014/main" id="{70FEE76C-809D-CE7F-4BFF-4515F38717AF}"/>
              </a:ext>
            </a:extLst>
          </p:cNvPr>
          <p:cNvSpPr txBox="1"/>
          <p:nvPr/>
        </p:nvSpPr>
        <p:spPr>
          <a:xfrm>
            <a:off x="9255967" y="6572869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3AB398-14F7-7FA2-4A78-EB54A8D7E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" y="6438208"/>
            <a:ext cx="2654170" cy="41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6525188D-0CDA-FDB7-9CA0-BCC2246DB3E4}"/>
              </a:ext>
            </a:extLst>
          </p:cNvPr>
          <p:cNvSpPr txBox="1">
            <a:spLocks/>
          </p:cNvSpPr>
          <p:nvPr/>
        </p:nvSpPr>
        <p:spPr>
          <a:xfrm>
            <a:off x="2663498" y="6510203"/>
            <a:ext cx="4278791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2D061B0-3A8E-DECC-92C2-12D73DBBDF59}"/>
              </a:ext>
            </a:extLst>
          </p:cNvPr>
          <p:cNvSpPr txBox="1"/>
          <p:nvPr/>
        </p:nvSpPr>
        <p:spPr>
          <a:xfrm>
            <a:off x="0" y="697149"/>
            <a:ext cx="12173344" cy="5741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450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É a etapa em que definimos </a:t>
            </a:r>
            <a:r>
              <a:rPr lang="pt-BR" sz="1450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onde</a:t>
            </a:r>
            <a:r>
              <a:rPr lang="pt-BR" sz="1450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cada construção vai ficar dentro da propriedade e </a:t>
            </a:r>
            <a:r>
              <a:rPr lang="pt-BR" sz="1450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por quê</a:t>
            </a:r>
            <a:r>
              <a:rPr lang="pt-BR" sz="1450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pt-BR" sz="1450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Uma instalação rural mal implantada aumenta: </a:t>
            </a:r>
            <a:r>
              <a:rPr lang="pt-BR" sz="145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</a:t>
            </a:r>
            <a:r>
              <a:rPr lang="pt-BR" sz="14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usto de transporte interno (tempo + combustível). Risco de contaminação (resíduos, defensivos, dejetos). Problemas com erosão, lama e alagamento. Desconforto térmico e sanitário (principalmente em instalações animais).</a:t>
            </a:r>
          </a:p>
          <a:p>
            <a:pPr algn="just">
              <a:lnSpc>
                <a:spcPct val="150000"/>
              </a:lnSpc>
            </a:pPr>
            <a:r>
              <a:rPr lang="pt-BR" sz="1450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a) Zoneamento da propriedade (áreas)</a:t>
            </a:r>
            <a:r>
              <a:rPr lang="pt-BR" sz="1450" kern="100" dirty="0"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</a:t>
            </a:r>
            <a:r>
              <a:rPr lang="pt-BR" sz="145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Zona residencial/administrativa:</a:t>
            </a:r>
            <a:r>
              <a:rPr lang="pt-BR" sz="14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casa, escritório, almoxarifado limpo. </a:t>
            </a:r>
            <a:r>
              <a:rPr lang="pt-BR" sz="145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Zona operacional:</a:t>
            </a:r>
            <a:r>
              <a:rPr lang="pt-BR" sz="14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galpões, oficina, pátio de máquinas. </a:t>
            </a:r>
            <a:r>
              <a:rPr lang="pt-BR" sz="145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Zona de produção:</a:t>
            </a:r>
            <a:r>
              <a:rPr lang="pt-BR" sz="14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confinamento, ordenha, aviário, etc. </a:t>
            </a:r>
            <a:r>
              <a:rPr lang="pt-BR" sz="145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Zona ambiental:</a:t>
            </a:r>
            <a:r>
              <a:rPr lang="pt-BR" sz="14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esterqueira, biodigestor, compostagem, APP.</a:t>
            </a:r>
          </a:p>
          <a:p>
            <a:pPr algn="just">
              <a:lnSpc>
                <a:spcPct val="150000"/>
              </a:lnSpc>
            </a:pPr>
            <a:r>
              <a:rPr lang="pt-BR" sz="145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👉 O objetivo é separar o que pode contaminar do que precisa ficar limpo.</a:t>
            </a:r>
          </a:p>
          <a:p>
            <a:pPr algn="just">
              <a:lnSpc>
                <a:spcPct val="150000"/>
              </a:lnSpc>
            </a:pPr>
            <a:r>
              <a:rPr lang="pt-BR" sz="1450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b) Fluxo operacional (logística rural)</a:t>
            </a:r>
            <a:endParaRPr lang="pt-BR" sz="1450" kern="100" dirty="0">
              <a:effectLst/>
              <a:highlight>
                <a:srgbClr val="FFFF00"/>
              </a:highlight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14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 layout deve permitir um fluxo eficiente:</a:t>
            </a:r>
          </a:p>
          <a:p>
            <a:pPr algn="just">
              <a:lnSpc>
                <a:spcPct val="150000"/>
              </a:lnSpc>
            </a:pPr>
            <a:r>
              <a:rPr lang="pt-BR" sz="14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📌 </a:t>
            </a:r>
            <a:r>
              <a:rPr lang="pt-BR" sz="1450" i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Exemplo para grãos:</a:t>
            </a:r>
            <a:r>
              <a:rPr lang="pt-BR" sz="1450" i="1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pt-BR" sz="1450" b="1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Entrada → limpeza → secagem → armazenagem → expedição</a:t>
            </a:r>
          </a:p>
          <a:p>
            <a:pPr algn="just">
              <a:lnSpc>
                <a:spcPct val="150000"/>
              </a:lnSpc>
            </a:pPr>
            <a:r>
              <a:rPr lang="pt-BR" sz="145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 o galpão, o silo e o acesso não forem bem posicionados: </a:t>
            </a:r>
            <a:r>
              <a:rPr lang="pt-BR" sz="14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caminhões manobram com dificuldade, o tráfego “corta” áreas produtivas e aumenta o custo operacional.</a:t>
            </a:r>
          </a:p>
          <a:p>
            <a:pPr algn="just">
              <a:lnSpc>
                <a:spcPct val="150000"/>
              </a:lnSpc>
            </a:pPr>
            <a:r>
              <a:rPr lang="pt-BR" sz="1450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c) Topografia e drenagem</a:t>
            </a:r>
            <a:endParaRPr lang="pt-BR" sz="1450" kern="100" dirty="0">
              <a:effectLst/>
              <a:highlight>
                <a:srgbClr val="FFFF00"/>
              </a:highlight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145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Construções devem ficar preferencialmente em áreas:</a:t>
            </a:r>
          </a:p>
          <a:p>
            <a:pPr algn="just">
              <a:lnSpc>
                <a:spcPct val="150000"/>
              </a:lnSpc>
            </a:pPr>
            <a:r>
              <a:rPr lang="pt-BR" sz="145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✅ com leve declive para escoamento</a:t>
            </a:r>
          </a:p>
          <a:p>
            <a:pPr algn="just">
              <a:lnSpc>
                <a:spcPct val="150000"/>
              </a:lnSpc>
            </a:pPr>
            <a:r>
              <a:rPr lang="pt-BR" sz="145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❌ nunca em baixadas (risco de inundação + lama) </a:t>
            </a:r>
            <a:r>
              <a:rPr lang="pt-BR" sz="145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pt-BR" sz="14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Além disso, deve existir: </a:t>
            </a:r>
            <a:r>
              <a:rPr lang="pt-BR" sz="145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canaletas / valetas</a:t>
            </a:r>
            <a:r>
              <a:rPr lang="pt-BR" sz="145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pt-BR" sz="145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caimento do piso</a:t>
            </a:r>
            <a:r>
              <a:rPr lang="pt-BR" sz="145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e </a:t>
            </a:r>
            <a:r>
              <a:rPr lang="pt-BR" sz="145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bueiros em estradas internas.</a:t>
            </a:r>
            <a:endParaRPr lang="pt-BR" sz="145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F6466CD-EEA6-BA9A-6D44-AEBB4BAC2001}"/>
              </a:ext>
            </a:extLst>
          </p:cNvPr>
          <p:cNvSpPr/>
          <p:nvPr/>
        </p:nvSpPr>
        <p:spPr>
          <a:xfrm>
            <a:off x="9328" y="0"/>
            <a:ext cx="1217334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6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chemeClr val="bg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Planejamento e Implantação da Construção Rural</a:t>
            </a:r>
          </a:p>
        </p:txBody>
      </p:sp>
    </p:spTree>
    <p:extLst>
      <p:ext uri="{BB962C8B-B14F-4D97-AF65-F5344CB8AC3E}">
        <p14:creationId xmlns:p14="http://schemas.microsoft.com/office/powerpoint/2010/main" val="2192174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Diagrama&#10;&#10;O conteúdo gerado por IA pode estar incorreto.">
            <a:extLst>
              <a:ext uri="{FF2B5EF4-FFF2-40B4-BE49-F238E27FC236}">
                <a16:creationId xmlns:a16="http://schemas.microsoft.com/office/drawing/2014/main" id="{FD156FAD-09F6-067A-4C49-AEF0AE34A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407" y="0"/>
            <a:ext cx="102934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551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ixaDeTexto 21">
            <a:extLst>
              <a:ext uri="{FF2B5EF4-FFF2-40B4-BE49-F238E27FC236}">
                <a16:creationId xmlns:a16="http://schemas.microsoft.com/office/drawing/2014/main" id="{70FEE76C-809D-CE7F-4BFF-4515F38717AF}"/>
              </a:ext>
            </a:extLst>
          </p:cNvPr>
          <p:cNvSpPr txBox="1"/>
          <p:nvPr/>
        </p:nvSpPr>
        <p:spPr>
          <a:xfrm>
            <a:off x="9255967" y="6572869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3AB398-14F7-7FA2-4A78-EB54A8D7E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" y="6438208"/>
            <a:ext cx="2654170" cy="41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6525188D-0CDA-FDB7-9CA0-BCC2246DB3E4}"/>
              </a:ext>
            </a:extLst>
          </p:cNvPr>
          <p:cNvSpPr txBox="1">
            <a:spLocks/>
          </p:cNvSpPr>
          <p:nvPr/>
        </p:nvSpPr>
        <p:spPr>
          <a:xfrm>
            <a:off x="2663498" y="6510203"/>
            <a:ext cx="4278791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CF09FF-C70C-A26B-C8E6-B8436738A3BA}"/>
              </a:ext>
            </a:extLst>
          </p:cNvPr>
          <p:cNvSpPr txBox="1"/>
          <p:nvPr/>
        </p:nvSpPr>
        <p:spPr>
          <a:xfrm>
            <a:off x="-9328" y="767634"/>
            <a:ext cx="12192000" cy="5438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95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É o estudo dos materiais e suas características para garantir: </a:t>
            </a:r>
            <a:r>
              <a:rPr lang="pt-BR" sz="19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resistência</a:t>
            </a:r>
            <a:r>
              <a:rPr lang="pt-BR" sz="195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pt-BR" sz="19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durabilidade</a:t>
            </a:r>
            <a:r>
              <a:rPr lang="pt-BR" sz="195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pt-BR" sz="19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custo-benefício</a:t>
            </a:r>
            <a:r>
              <a:rPr lang="pt-BR" sz="195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e </a:t>
            </a:r>
            <a:r>
              <a:rPr lang="pt-BR" sz="19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facilidade de manutenção. </a:t>
            </a:r>
            <a:r>
              <a:rPr lang="pt-BR" sz="195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No meio rural, os materiais sofrem mais com: </a:t>
            </a:r>
            <a:r>
              <a:rPr lang="pt-BR" sz="19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umidade</a:t>
            </a:r>
            <a:r>
              <a:rPr lang="pt-BR" sz="195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pt-BR" sz="19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sol intenso (radiação), poeira</a:t>
            </a:r>
            <a:r>
              <a:rPr lang="pt-BR" sz="195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pt-BR" sz="19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amônia e gases (instalações animais) e impactos e abrasão. (tratores, grãos, pallets).</a:t>
            </a:r>
            <a:endParaRPr lang="pt-BR" sz="1950" b="1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1950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Materiais mais comuns e suas aplicações</a:t>
            </a:r>
            <a:endParaRPr lang="pt-BR" sz="1950" kern="100" dirty="0">
              <a:effectLst/>
              <a:highlight>
                <a:srgbClr val="FFFF00"/>
              </a:highlight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1950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a) Madeira</a:t>
            </a:r>
            <a:endParaRPr lang="pt-BR" sz="1950" kern="100" dirty="0">
              <a:effectLst/>
              <a:highlight>
                <a:srgbClr val="FFFF00"/>
              </a:highlight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195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✅ Vantagens: </a:t>
            </a:r>
            <a:r>
              <a:rPr lang="pt-BR" sz="19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boa resistência estrutural (quando bem dimensionada), fácil de trabalhar e disponível em muitas regiões e boa estética.</a:t>
            </a:r>
          </a:p>
          <a:p>
            <a:pPr algn="just">
              <a:lnSpc>
                <a:spcPct val="150000"/>
              </a:lnSpc>
            </a:pPr>
            <a:r>
              <a:rPr lang="pt-BR" sz="195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❌ Problemas: </a:t>
            </a:r>
            <a:r>
              <a:rPr lang="pt-BR" sz="19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cupins e apodrecimento e deformação por umidade. </a:t>
            </a:r>
          </a:p>
          <a:p>
            <a:pPr algn="just">
              <a:lnSpc>
                <a:spcPct val="150000"/>
              </a:lnSpc>
            </a:pPr>
            <a:r>
              <a:rPr lang="pt-BR" sz="1950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b) Concreto armado</a:t>
            </a:r>
            <a:endParaRPr lang="pt-BR" sz="1950" kern="100" dirty="0">
              <a:effectLst/>
              <a:highlight>
                <a:srgbClr val="FFFF00"/>
              </a:highlight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195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✅ Vantagens: </a:t>
            </a:r>
            <a:r>
              <a:rPr lang="pt-BR" sz="19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alta resistência, ideal para fundações, pisos e estruturas fixas e durável e estável.</a:t>
            </a:r>
          </a:p>
          <a:p>
            <a:pPr algn="just">
              <a:lnSpc>
                <a:spcPct val="150000"/>
              </a:lnSpc>
            </a:pPr>
            <a:r>
              <a:rPr lang="pt-BR" sz="195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❌ Problemas: </a:t>
            </a:r>
            <a:r>
              <a:rPr lang="pt-BR" sz="19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custo maior e precisa de boa execução (cura, traço, cobrimento).</a:t>
            </a:r>
          </a:p>
          <a:p>
            <a:pPr algn="just">
              <a:lnSpc>
                <a:spcPct val="150000"/>
              </a:lnSpc>
            </a:pPr>
            <a:r>
              <a:rPr lang="pt-BR" sz="195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📌 Muito usado em: </a:t>
            </a:r>
            <a:r>
              <a:rPr lang="pt-BR" sz="19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pisos de confinamento, bases de silos, canaletas e rampas e esterqueiras.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5A3D45C-D7E6-85A9-7CCE-268E99C985DA}"/>
              </a:ext>
            </a:extLst>
          </p:cNvPr>
          <p:cNvSpPr/>
          <p:nvPr/>
        </p:nvSpPr>
        <p:spPr>
          <a:xfrm>
            <a:off x="9328" y="0"/>
            <a:ext cx="1217334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6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chemeClr val="bg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Materiais de Construção no Meio Rural</a:t>
            </a:r>
          </a:p>
        </p:txBody>
      </p:sp>
    </p:spTree>
    <p:extLst>
      <p:ext uri="{BB962C8B-B14F-4D97-AF65-F5344CB8AC3E}">
        <p14:creationId xmlns:p14="http://schemas.microsoft.com/office/powerpoint/2010/main" val="1408398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ixaDeTexto 21">
            <a:extLst>
              <a:ext uri="{FF2B5EF4-FFF2-40B4-BE49-F238E27FC236}">
                <a16:creationId xmlns:a16="http://schemas.microsoft.com/office/drawing/2014/main" id="{70FEE76C-809D-CE7F-4BFF-4515F38717AF}"/>
              </a:ext>
            </a:extLst>
          </p:cNvPr>
          <p:cNvSpPr txBox="1"/>
          <p:nvPr/>
        </p:nvSpPr>
        <p:spPr>
          <a:xfrm>
            <a:off x="9255967" y="6572869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3AB398-14F7-7FA2-4A78-EB54A8D7E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" y="6438208"/>
            <a:ext cx="2654170" cy="41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6525188D-0CDA-FDB7-9CA0-BCC2246DB3E4}"/>
              </a:ext>
            </a:extLst>
          </p:cNvPr>
          <p:cNvSpPr txBox="1">
            <a:spLocks/>
          </p:cNvSpPr>
          <p:nvPr/>
        </p:nvSpPr>
        <p:spPr>
          <a:xfrm>
            <a:off x="2663498" y="6510203"/>
            <a:ext cx="4278791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CCF09FF-C70C-A26B-C8E6-B8436738A3BA}"/>
              </a:ext>
            </a:extLst>
          </p:cNvPr>
          <p:cNvSpPr txBox="1"/>
          <p:nvPr/>
        </p:nvSpPr>
        <p:spPr>
          <a:xfrm>
            <a:off x="9328" y="792634"/>
            <a:ext cx="12198220" cy="5107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200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c) Estrutura metálica (aço)</a:t>
            </a:r>
            <a:endParaRPr lang="pt-BR" sz="2200" kern="100" dirty="0">
              <a:effectLst/>
              <a:highlight>
                <a:srgbClr val="FFFF00"/>
              </a:highlight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22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✅ Vantagens: </a:t>
            </a:r>
            <a:r>
              <a:rPr lang="pt-BR" sz="2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montagem rápida, permite </a:t>
            </a:r>
            <a:r>
              <a:rPr lang="pt-BR" sz="22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vãos livres grandes</a:t>
            </a:r>
            <a:r>
              <a:rPr lang="pt-BR" sz="2200" b="1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e </a:t>
            </a:r>
            <a:r>
              <a:rPr lang="pt-BR" sz="2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muito usado em galpões modernos.</a:t>
            </a:r>
          </a:p>
          <a:p>
            <a:pPr algn="just">
              <a:lnSpc>
                <a:spcPct val="150000"/>
              </a:lnSpc>
            </a:pPr>
            <a:r>
              <a:rPr lang="pt-BR" sz="22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❌ Problemas: </a:t>
            </a:r>
            <a:r>
              <a:rPr lang="pt-BR" sz="2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pode corroer se não tiver pintura/proteção e pode aquecer mais (depende do telhado).</a:t>
            </a:r>
          </a:p>
          <a:p>
            <a:pPr algn="just">
              <a:lnSpc>
                <a:spcPct val="150000"/>
              </a:lnSpc>
            </a:pPr>
            <a:r>
              <a:rPr lang="pt-BR" sz="22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📌 Aplicações: </a:t>
            </a:r>
            <a:r>
              <a:rPr lang="pt-BR" sz="2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galpão de máquinas, armazéns de insumos e hangar de implementos.</a:t>
            </a:r>
            <a:endParaRPr lang="pt-BR" sz="2200" b="1" kern="100" dirty="0">
              <a:effectLst/>
              <a:highlight>
                <a:srgbClr val="FFFF00"/>
              </a:highlight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2200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d) Alvenaria (tijolos/blocos)</a:t>
            </a:r>
            <a:endParaRPr lang="pt-BR" sz="2200" kern="100" dirty="0">
              <a:effectLst/>
              <a:highlight>
                <a:srgbClr val="FFFF00"/>
              </a:highlight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22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✅ Vantagens: </a:t>
            </a:r>
            <a:r>
              <a:rPr lang="pt-BR" sz="2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boa inércia térmica (não esquenta/esfria rápido), fácil manutenção e firmeza para paredes e fechamentos.</a:t>
            </a:r>
          </a:p>
          <a:p>
            <a:pPr algn="just">
              <a:lnSpc>
                <a:spcPct val="150000"/>
              </a:lnSpc>
            </a:pPr>
            <a:r>
              <a:rPr lang="pt-BR" sz="2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❌ </a:t>
            </a:r>
            <a:r>
              <a:rPr lang="pt-BR" sz="22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Problemas: </a:t>
            </a:r>
            <a:r>
              <a:rPr lang="pt-BR" sz="2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mais lenta para construir e precisa de fundação bem feita.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590FC6D-D9C8-BF4C-3FC4-1CAD32E1E9DE}"/>
              </a:ext>
            </a:extLst>
          </p:cNvPr>
          <p:cNvSpPr/>
          <p:nvPr/>
        </p:nvSpPr>
        <p:spPr>
          <a:xfrm>
            <a:off x="9328" y="0"/>
            <a:ext cx="1217334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6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chemeClr val="bg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Materiais de Construção no Meio Rural</a:t>
            </a:r>
          </a:p>
        </p:txBody>
      </p:sp>
    </p:spTree>
    <p:extLst>
      <p:ext uri="{BB962C8B-B14F-4D97-AF65-F5344CB8AC3E}">
        <p14:creationId xmlns:p14="http://schemas.microsoft.com/office/powerpoint/2010/main" val="2888533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Placa com nome de cidade&#10;&#10;O conteúdo gerado por IA pode estar incorreto.">
            <a:extLst>
              <a:ext uri="{FF2B5EF4-FFF2-40B4-BE49-F238E27FC236}">
                <a16:creationId xmlns:a16="http://schemas.microsoft.com/office/drawing/2014/main" id="{4A35F572-19FC-628A-4D9A-40F1AF2B5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283" y="0"/>
            <a:ext cx="102934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246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ixaDeTexto 21">
            <a:extLst>
              <a:ext uri="{FF2B5EF4-FFF2-40B4-BE49-F238E27FC236}">
                <a16:creationId xmlns:a16="http://schemas.microsoft.com/office/drawing/2014/main" id="{70FEE76C-809D-CE7F-4BFF-4515F38717AF}"/>
              </a:ext>
            </a:extLst>
          </p:cNvPr>
          <p:cNvSpPr txBox="1"/>
          <p:nvPr/>
        </p:nvSpPr>
        <p:spPr>
          <a:xfrm>
            <a:off x="9255967" y="6572869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3AB398-14F7-7FA2-4A78-EB54A8D7E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" y="6438208"/>
            <a:ext cx="2654170" cy="41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6525188D-0CDA-FDB7-9CA0-BCC2246DB3E4}"/>
              </a:ext>
            </a:extLst>
          </p:cNvPr>
          <p:cNvSpPr txBox="1">
            <a:spLocks/>
          </p:cNvSpPr>
          <p:nvPr/>
        </p:nvSpPr>
        <p:spPr>
          <a:xfrm>
            <a:off x="2663498" y="6510203"/>
            <a:ext cx="4278791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91F245F-BDF2-A1A7-7C04-51BDD02E70BD}"/>
              </a:ext>
            </a:extLst>
          </p:cNvPr>
          <p:cNvSpPr txBox="1"/>
          <p:nvPr/>
        </p:nvSpPr>
        <p:spPr>
          <a:xfrm>
            <a:off x="0" y="746663"/>
            <a:ext cx="12173344" cy="5364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1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É o conjunto de partes que sustentam a construção e garantem estabilidade. </a:t>
            </a:r>
            <a:r>
              <a:rPr lang="pt-BR" sz="21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Em construções rurais, o aluno precisa entender principalmente: </a:t>
            </a:r>
            <a:r>
              <a:rPr lang="pt-BR" sz="21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cargas</a:t>
            </a:r>
            <a:r>
              <a:rPr lang="pt-BR" sz="21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pt-BR" sz="21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fundações</a:t>
            </a:r>
            <a:r>
              <a:rPr lang="pt-BR" sz="21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pt-BR" sz="21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telhados</a:t>
            </a:r>
            <a:r>
              <a:rPr lang="pt-BR" sz="21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e </a:t>
            </a:r>
            <a:r>
              <a:rPr lang="pt-BR" sz="21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pisos industriais.</a:t>
            </a:r>
            <a:endParaRPr lang="pt-BR" sz="2100" b="1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21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✅ Elementos principais</a:t>
            </a:r>
            <a:endParaRPr lang="pt-BR" sz="2100" kern="100" dirty="0">
              <a:solidFill>
                <a:srgbClr val="FF0000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2100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a) Fundação</a:t>
            </a:r>
            <a:r>
              <a:rPr lang="pt-BR" sz="2100" b="1" kern="100" dirty="0"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</a:t>
            </a:r>
            <a:r>
              <a:rPr lang="pt-BR" sz="21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É a parte que “liga” a construção ao solo.</a:t>
            </a:r>
          </a:p>
          <a:p>
            <a:pPr>
              <a:lnSpc>
                <a:spcPct val="150000"/>
              </a:lnSpc>
            </a:pPr>
            <a:r>
              <a:rPr lang="pt-BR" sz="21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 a fundação é mal feita: </a:t>
            </a:r>
            <a:r>
              <a:rPr lang="pt-BR" sz="21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aparecem trincas nas paredes, pisos afundam e pilares inclinam (recalque diferencial).</a:t>
            </a:r>
          </a:p>
          <a:p>
            <a:pPr>
              <a:lnSpc>
                <a:spcPct val="150000"/>
              </a:lnSpc>
            </a:pPr>
            <a:r>
              <a:rPr lang="pt-BR" sz="21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📌 Tipos comuns: sapata isolada</a:t>
            </a:r>
            <a:r>
              <a:rPr lang="pt-BR" sz="21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(muito usada com pilares), </a:t>
            </a:r>
            <a:r>
              <a:rPr lang="pt-BR" sz="21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radier</a:t>
            </a:r>
            <a:r>
              <a:rPr lang="pt-BR" sz="21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(piso estrutural) e </a:t>
            </a:r>
            <a:r>
              <a:rPr lang="pt-BR" sz="21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bloco + estaca</a:t>
            </a:r>
            <a:r>
              <a:rPr lang="pt-BR" sz="21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(solos fracos).</a:t>
            </a:r>
          </a:p>
          <a:p>
            <a:pPr>
              <a:lnSpc>
                <a:spcPct val="150000"/>
              </a:lnSpc>
            </a:pPr>
            <a:r>
              <a:rPr lang="pt-BR" sz="2100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b) Estrutura do telhado</a:t>
            </a:r>
            <a:r>
              <a:rPr lang="pt-BR" sz="2100" b="1" kern="100" dirty="0"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</a:t>
            </a:r>
            <a:r>
              <a:rPr lang="pt-BR" sz="21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Tem várias peças, como: tesouras</a:t>
            </a:r>
            <a:r>
              <a:rPr lang="pt-BR" sz="21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pt-BR" sz="21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terças</a:t>
            </a:r>
            <a:r>
              <a:rPr lang="pt-BR" sz="21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pt-BR" sz="21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caibros</a:t>
            </a:r>
            <a:r>
              <a:rPr lang="pt-BR" sz="21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e </a:t>
            </a:r>
            <a:r>
              <a:rPr lang="pt-BR" sz="21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ripas.</a:t>
            </a:r>
          </a:p>
          <a:p>
            <a:pPr>
              <a:lnSpc>
                <a:spcPct val="150000"/>
              </a:lnSpc>
            </a:pPr>
            <a:r>
              <a:rPr lang="pt-BR" sz="21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📌 O telhado precisa resistir a: </a:t>
            </a:r>
            <a:r>
              <a:rPr lang="pt-BR" sz="21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vento (sucção), chuva</a:t>
            </a:r>
            <a:r>
              <a:rPr lang="pt-BR" sz="21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pt-BR" sz="21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peso do próprio telhado e manutenção (pessoa andando).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D3F910B-5A5C-63DE-41C0-BE284DC8495C}"/>
              </a:ext>
            </a:extLst>
          </p:cNvPr>
          <p:cNvSpPr/>
          <p:nvPr/>
        </p:nvSpPr>
        <p:spPr>
          <a:xfrm>
            <a:off x="9328" y="0"/>
            <a:ext cx="12173344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chemeClr val="bg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Estruturas e Elementos Construtivos</a:t>
            </a:r>
            <a:endParaRPr lang="pt-BR" sz="32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00B0F0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4172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ixaDeTexto 21">
            <a:extLst>
              <a:ext uri="{FF2B5EF4-FFF2-40B4-BE49-F238E27FC236}">
                <a16:creationId xmlns:a16="http://schemas.microsoft.com/office/drawing/2014/main" id="{70FEE76C-809D-CE7F-4BFF-4515F38717AF}"/>
              </a:ext>
            </a:extLst>
          </p:cNvPr>
          <p:cNvSpPr txBox="1"/>
          <p:nvPr/>
        </p:nvSpPr>
        <p:spPr>
          <a:xfrm>
            <a:off x="9255967" y="6572869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3AB398-14F7-7FA2-4A78-EB54A8D7E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" y="6438208"/>
            <a:ext cx="2654170" cy="41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6525188D-0CDA-FDB7-9CA0-BCC2246DB3E4}"/>
              </a:ext>
            </a:extLst>
          </p:cNvPr>
          <p:cNvSpPr txBox="1">
            <a:spLocks/>
          </p:cNvSpPr>
          <p:nvPr/>
        </p:nvSpPr>
        <p:spPr>
          <a:xfrm>
            <a:off x="2663498" y="6510203"/>
            <a:ext cx="4278791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91F245F-BDF2-A1A7-7C04-51BDD02E70BD}"/>
              </a:ext>
            </a:extLst>
          </p:cNvPr>
          <p:cNvSpPr txBox="1"/>
          <p:nvPr/>
        </p:nvSpPr>
        <p:spPr>
          <a:xfrm>
            <a:off x="18656" y="656770"/>
            <a:ext cx="12173344" cy="5335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300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c) Vão livre</a:t>
            </a:r>
            <a:r>
              <a:rPr lang="pt-BR" sz="2300" b="1" kern="100" dirty="0"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</a:t>
            </a:r>
            <a:r>
              <a:rPr lang="pt-BR" sz="23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É o espaço sem pilares internos.</a:t>
            </a:r>
          </a:p>
          <a:p>
            <a:pPr algn="just">
              <a:lnSpc>
                <a:spcPct val="150000"/>
              </a:lnSpc>
            </a:pPr>
            <a:r>
              <a:rPr lang="pt-BR" sz="23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✅ Importante em: </a:t>
            </a:r>
            <a:r>
              <a:rPr lang="pt-BR" sz="23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galpão de máquinas (manobra), armazém (movimentação) e ordenha (layout fluido).</a:t>
            </a:r>
          </a:p>
          <a:p>
            <a:pPr algn="just">
              <a:lnSpc>
                <a:spcPct val="150000"/>
              </a:lnSpc>
            </a:pPr>
            <a:r>
              <a:rPr lang="pt-BR" sz="23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📌 Exemplo: Um galpão com 12 m de largura sem pilares facilita o uso de implementos.</a:t>
            </a:r>
            <a:endParaRPr lang="pt-BR" sz="23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2300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d) Piso rural (industrial)</a:t>
            </a:r>
            <a:r>
              <a:rPr lang="pt-BR" sz="2300" b="1" kern="100" dirty="0"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</a:t>
            </a:r>
            <a:r>
              <a:rPr lang="pt-BR" sz="23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 piso é um dos itens mais ignorados e mais caros quando dá problema.</a:t>
            </a:r>
          </a:p>
          <a:p>
            <a:pPr algn="just">
              <a:lnSpc>
                <a:spcPct val="150000"/>
              </a:lnSpc>
            </a:pPr>
            <a:r>
              <a:rPr lang="pt-BR" sz="23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Deve resistir a: </a:t>
            </a:r>
            <a:r>
              <a:rPr lang="pt-BR" sz="23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peso de caminhões, abrasão por pneus, óleo e graxa e umidade constante.</a:t>
            </a:r>
          </a:p>
          <a:p>
            <a:pPr algn="just">
              <a:lnSpc>
                <a:spcPct val="150000"/>
              </a:lnSpc>
            </a:pPr>
            <a:r>
              <a:rPr lang="pt-BR" sz="23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✅ Soluções: </a:t>
            </a:r>
            <a:r>
              <a:rPr lang="pt-BR" sz="23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concreto com espessura dimensionada, malha de aço, juntas de dilatação e acabamento antiderrapante.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33062A0-98EB-0A4B-4D9D-A0DECED9BC1D}"/>
              </a:ext>
            </a:extLst>
          </p:cNvPr>
          <p:cNvSpPr/>
          <p:nvPr/>
        </p:nvSpPr>
        <p:spPr>
          <a:xfrm>
            <a:off x="9328" y="0"/>
            <a:ext cx="12173344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chemeClr val="bg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Estruturas e Elementos Construtivos</a:t>
            </a:r>
            <a:endParaRPr lang="pt-BR" sz="32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00B0F0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5606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ntendo texto, placar, ônibus&#10;&#10;O conteúdo gerado por IA pode estar incorreto.">
            <a:extLst>
              <a:ext uri="{FF2B5EF4-FFF2-40B4-BE49-F238E27FC236}">
                <a16:creationId xmlns:a16="http://schemas.microsoft.com/office/drawing/2014/main" id="{912F6003-3453-7CB5-E70E-29A46F7F2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283" y="0"/>
            <a:ext cx="102934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593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ixaDeTexto 21">
            <a:extLst>
              <a:ext uri="{FF2B5EF4-FFF2-40B4-BE49-F238E27FC236}">
                <a16:creationId xmlns:a16="http://schemas.microsoft.com/office/drawing/2014/main" id="{70FEE76C-809D-CE7F-4BFF-4515F38717AF}"/>
              </a:ext>
            </a:extLst>
          </p:cNvPr>
          <p:cNvSpPr txBox="1"/>
          <p:nvPr/>
        </p:nvSpPr>
        <p:spPr>
          <a:xfrm>
            <a:off x="9255967" y="6572869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3AB398-14F7-7FA2-4A78-EB54A8D7E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" y="6438208"/>
            <a:ext cx="2654170" cy="41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6525188D-0CDA-FDB7-9CA0-BCC2246DB3E4}"/>
              </a:ext>
            </a:extLst>
          </p:cNvPr>
          <p:cNvSpPr txBox="1">
            <a:spLocks/>
          </p:cNvSpPr>
          <p:nvPr/>
        </p:nvSpPr>
        <p:spPr>
          <a:xfrm>
            <a:off x="2663498" y="6510203"/>
            <a:ext cx="4278791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A455D02-1DCD-39A2-8A9A-D107D9784AD7}"/>
              </a:ext>
            </a:extLst>
          </p:cNvPr>
          <p:cNvSpPr txBox="1"/>
          <p:nvPr/>
        </p:nvSpPr>
        <p:spPr>
          <a:xfrm>
            <a:off x="9328" y="588850"/>
            <a:ext cx="12182672" cy="5849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1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É o projeto para garantir condições internas adequadas de: </a:t>
            </a:r>
            <a:r>
              <a:rPr lang="pt-BR" sz="21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temperatura</a:t>
            </a:r>
            <a:r>
              <a:rPr lang="pt-BR" sz="21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pt-BR" sz="21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umidade</a:t>
            </a:r>
            <a:r>
              <a:rPr lang="pt-BR" sz="21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pt-BR" sz="21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ventilação</a:t>
            </a:r>
            <a:r>
              <a:rPr lang="pt-BR" sz="21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e </a:t>
            </a:r>
            <a:r>
              <a:rPr lang="pt-BR" sz="21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luz. Para animais, isso vira </a:t>
            </a:r>
            <a:r>
              <a:rPr lang="pt-BR" sz="21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bem-estar animal + produtividade</a:t>
            </a:r>
            <a:r>
              <a:rPr lang="pt-BR" sz="21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 Para grãos, vira </a:t>
            </a:r>
            <a:r>
              <a:rPr lang="pt-BR" sz="21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qualidade + redução de perdas</a:t>
            </a:r>
            <a:r>
              <a:rPr lang="pt-BR" sz="21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pt-BR" sz="21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✅ Estratégias técnicas</a:t>
            </a:r>
            <a:endParaRPr lang="pt-BR" sz="2100" kern="100" dirty="0">
              <a:solidFill>
                <a:srgbClr val="FF0000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2100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a) Orientação da construção</a:t>
            </a:r>
            <a:r>
              <a:rPr lang="pt-BR" sz="2100" b="1" kern="100" dirty="0"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: </a:t>
            </a:r>
            <a:r>
              <a:rPr lang="pt-BR" sz="21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 sentido do prédio influencia entrada de sol e ventilação.</a:t>
            </a:r>
          </a:p>
          <a:p>
            <a:pPr algn="just">
              <a:lnSpc>
                <a:spcPct val="150000"/>
              </a:lnSpc>
            </a:pPr>
            <a:r>
              <a:rPr lang="pt-BR" sz="21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📌 Ideia central: </a:t>
            </a:r>
            <a:r>
              <a:rPr lang="pt-BR" sz="21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reduzir insolação direta onde não é desejada e usar vento para ventilar naturalmente.</a:t>
            </a:r>
          </a:p>
          <a:p>
            <a:pPr algn="just">
              <a:lnSpc>
                <a:spcPct val="150000"/>
              </a:lnSpc>
            </a:pPr>
            <a:r>
              <a:rPr lang="pt-BR" sz="2100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b) Pé-direito</a:t>
            </a:r>
            <a:endParaRPr lang="pt-BR" sz="2100" kern="100" dirty="0">
              <a:effectLst/>
              <a:highlight>
                <a:srgbClr val="FFFF00"/>
              </a:highlight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21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Quanto maior o pé-direito:</a:t>
            </a:r>
          </a:p>
          <a:p>
            <a:pPr algn="just">
              <a:lnSpc>
                <a:spcPct val="150000"/>
              </a:lnSpc>
            </a:pPr>
            <a:r>
              <a:rPr lang="pt-BR" sz="21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✅ maior volume de ar.</a:t>
            </a:r>
          </a:p>
          <a:p>
            <a:pPr algn="just">
              <a:lnSpc>
                <a:spcPct val="150000"/>
              </a:lnSpc>
            </a:pPr>
            <a:r>
              <a:rPr lang="pt-BR" sz="21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✅ mais conforto térmico.</a:t>
            </a:r>
          </a:p>
          <a:p>
            <a:pPr algn="just">
              <a:lnSpc>
                <a:spcPct val="150000"/>
              </a:lnSpc>
            </a:pPr>
            <a:r>
              <a:rPr lang="pt-BR" sz="21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✅ redução de calor acumulado.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C0DEC01-95EC-7A36-053C-0BD4046457D9}"/>
              </a:ext>
            </a:extLst>
          </p:cNvPr>
          <p:cNvSpPr/>
          <p:nvPr/>
        </p:nvSpPr>
        <p:spPr>
          <a:xfrm>
            <a:off x="9328" y="0"/>
            <a:ext cx="1217334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6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chemeClr val="bg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Conforto Ambiental e Ventilação</a:t>
            </a:r>
            <a:endParaRPr lang="pt-BR" sz="36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00B0F0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2208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ixaDeTexto 21">
            <a:extLst>
              <a:ext uri="{FF2B5EF4-FFF2-40B4-BE49-F238E27FC236}">
                <a16:creationId xmlns:a16="http://schemas.microsoft.com/office/drawing/2014/main" id="{70FEE76C-809D-CE7F-4BFF-4515F38717AF}"/>
              </a:ext>
            </a:extLst>
          </p:cNvPr>
          <p:cNvSpPr txBox="1"/>
          <p:nvPr/>
        </p:nvSpPr>
        <p:spPr>
          <a:xfrm>
            <a:off x="9255967" y="6572869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3AB398-14F7-7FA2-4A78-EB54A8D7E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" y="6438208"/>
            <a:ext cx="2654170" cy="41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6525188D-0CDA-FDB7-9CA0-BCC2246DB3E4}"/>
              </a:ext>
            </a:extLst>
          </p:cNvPr>
          <p:cNvSpPr txBox="1">
            <a:spLocks/>
          </p:cNvSpPr>
          <p:nvPr/>
        </p:nvSpPr>
        <p:spPr>
          <a:xfrm>
            <a:off x="2663498" y="6510203"/>
            <a:ext cx="4278791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A455D02-1DCD-39A2-8A9A-D107D9784AD7}"/>
              </a:ext>
            </a:extLst>
          </p:cNvPr>
          <p:cNvSpPr txBox="1"/>
          <p:nvPr/>
        </p:nvSpPr>
        <p:spPr>
          <a:xfrm>
            <a:off x="0" y="1045029"/>
            <a:ext cx="12182672" cy="4600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200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c) Lanternim</a:t>
            </a:r>
            <a:endParaRPr lang="pt-BR" sz="2200" kern="100" dirty="0">
              <a:effectLst/>
              <a:highlight>
                <a:srgbClr val="FFFF00"/>
              </a:highlight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22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É uma abertura no topo do telhado para: </a:t>
            </a:r>
            <a:r>
              <a:rPr lang="pt-BR" sz="2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liberar ar quente acumulado e melhorar ventilação natural.</a:t>
            </a:r>
          </a:p>
          <a:p>
            <a:pPr algn="just">
              <a:lnSpc>
                <a:spcPct val="150000"/>
              </a:lnSpc>
            </a:pPr>
            <a:r>
              <a:rPr lang="pt-BR" sz="22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✅ Muito usado em: </a:t>
            </a:r>
            <a:r>
              <a:rPr lang="pt-BR" sz="2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galpões</a:t>
            </a:r>
            <a:r>
              <a:rPr lang="pt-BR" sz="22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pt-BR" sz="2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confinamentos</a:t>
            </a:r>
            <a:r>
              <a:rPr lang="pt-BR" sz="22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e </a:t>
            </a:r>
            <a:r>
              <a:rPr lang="pt-BR" sz="2200" i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compost barns</a:t>
            </a:r>
            <a:r>
              <a:rPr lang="pt-BR" sz="2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pt-BR" sz="2200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d) Beiral e sombreamento</a:t>
            </a:r>
            <a:endParaRPr lang="pt-BR" sz="2200" kern="100" dirty="0">
              <a:effectLst/>
              <a:highlight>
                <a:srgbClr val="FFFF00"/>
              </a:highlight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22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Beiral grande ajuda a: </a:t>
            </a:r>
            <a:r>
              <a:rPr lang="pt-BR" sz="2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reduzir entrada de chuva, proteger paredes e diminuir aquecimento.</a:t>
            </a:r>
          </a:p>
          <a:p>
            <a:pPr algn="just">
              <a:lnSpc>
                <a:spcPct val="150000"/>
              </a:lnSpc>
            </a:pPr>
            <a:r>
              <a:rPr lang="pt-BR" sz="22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✅ Exemplo muito didático:</a:t>
            </a:r>
          </a:p>
          <a:p>
            <a:pPr algn="just">
              <a:lnSpc>
                <a:spcPct val="150000"/>
              </a:lnSpc>
            </a:pPr>
            <a:r>
              <a:rPr lang="pt-BR" sz="22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Num galpão de máquinas, calor excessivo pode: </a:t>
            </a:r>
            <a:r>
              <a:rPr lang="pt-BR" sz="22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deteriorar peças e pneus e aumentar risco de incêndio (palha/óleo).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98D4E29-EDBE-492E-8652-42CCCAB63587}"/>
              </a:ext>
            </a:extLst>
          </p:cNvPr>
          <p:cNvSpPr/>
          <p:nvPr/>
        </p:nvSpPr>
        <p:spPr>
          <a:xfrm>
            <a:off x="9328" y="0"/>
            <a:ext cx="1217334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6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chemeClr val="bg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Conforto Ambiental e Ventilação</a:t>
            </a:r>
            <a:endParaRPr lang="pt-BR" sz="36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00B0F0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6427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Diagrama&#10;&#10;O conteúdo gerado por IA pode estar incorreto.">
            <a:extLst>
              <a:ext uri="{FF2B5EF4-FFF2-40B4-BE49-F238E27FC236}">
                <a16:creationId xmlns:a16="http://schemas.microsoft.com/office/drawing/2014/main" id="{30010ED2-0DC4-0445-F0D6-31CA5F346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498" y="6805"/>
            <a:ext cx="10273004" cy="6844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223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ixaDeTexto 21">
            <a:extLst>
              <a:ext uri="{FF2B5EF4-FFF2-40B4-BE49-F238E27FC236}">
                <a16:creationId xmlns:a16="http://schemas.microsoft.com/office/drawing/2014/main" id="{70FEE76C-809D-CE7F-4BFF-4515F38717AF}"/>
              </a:ext>
            </a:extLst>
          </p:cNvPr>
          <p:cNvSpPr txBox="1"/>
          <p:nvPr/>
        </p:nvSpPr>
        <p:spPr>
          <a:xfrm>
            <a:off x="9255967" y="6572869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3AB398-14F7-7FA2-4A78-EB54A8D7E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" y="6438208"/>
            <a:ext cx="2654170" cy="41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6525188D-0CDA-FDB7-9CA0-BCC2246DB3E4}"/>
              </a:ext>
            </a:extLst>
          </p:cNvPr>
          <p:cNvSpPr txBox="1">
            <a:spLocks/>
          </p:cNvSpPr>
          <p:nvPr/>
        </p:nvSpPr>
        <p:spPr>
          <a:xfrm>
            <a:off x="2663498" y="6510203"/>
            <a:ext cx="4278791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AAFEC5D-7265-D60C-56D9-18586F8AD915}"/>
              </a:ext>
            </a:extLst>
          </p:cNvPr>
          <p:cNvSpPr txBox="1"/>
          <p:nvPr/>
        </p:nvSpPr>
        <p:spPr>
          <a:xfrm>
            <a:off x="0" y="646331"/>
            <a:ext cx="12182672" cy="5739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9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É o conjunto de construções destinadas a guardar produtos agrícolas com qualidade e segurança. O objetivo é:</a:t>
            </a:r>
            <a:r>
              <a:rPr lang="pt-BR" sz="1900" b="1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pt-BR" sz="19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evitar perdas</a:t>
            </a:r>
            <a:r>
              <a:rPr lang="pt-BR" sz="19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pt-BR" sz="19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evitar contaminação</a:t>
            </a:r>
            <a:r>
              <a:rPr lang="pt-BR" sz="19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pt-BR" sz="19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manter padrão comercial.</a:t>
            </a:r>
          </a:p>
          <a:p>
            <a:pPr algn="just">
              <a:lnSpc>
                <a:spcPct val="150000"/>
              </a:lnSpc>
            </a:pPr>
            <a:r>
              <a:rPr lang="pt-BR" sz="19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Exemplos de construções típicas</a:t>
            </a:r>
            <a:endParaRPr lang="pt-BR" sz="1900" kern="100" dirty="0">
              <a:solidFill>
                <a:srgbClr val="FF0000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1900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a) Armazém de grãos / Silo</a:t>
            </a:r>
            <a:endParaRPr lang="pt-BR" sz="1900" kern="100" dirty="0">
              <a:effectLst/>
              <a:highlight>
                <a:srgbClr val="FFFF00"/>
              </a:highlight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19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Principais inimigos dos grãos: </a:t>
            </a:r>
            <a:r>
              <a:rPr lang="pt-BR" sz="19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umidade</a:t>
            </a:r>
            <a:r>
              <a:rPr lang="pt-BR" sz="19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pt-BR" sz="19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fungos</a:t>
            </a:r>
            <a:r>
              <a:rPr lang="pt-BR" sz="19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pt-BR" sz="19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insetos</a:t>
            </a:r>
            <a:r>
              <a:rPr lang="pt-BR" sz="19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e </a:t>
            </a:r>
            <a:r>
              <a:rPr lang="pt-BR" sz="19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temperatura alta.</a:t>
            </a:r>
          </a:p>
          <a:p>
            <a:pPr algn="just">
              <a:lnSpc>
                <a:spcPct val="150000"/>
              </a:lnSpc>
            </a:pPr>
            <a:r>
              <a:rPr lang="pt-BR" sz="19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✅ Elementos técnicos: </a:t>
            </a:r>
            <a:r>
              <a:rPr lang="pt-BR" sz="19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aeração</a:t>
            </a:r>
            <a:r>
              <a:rPr lang="pt-BR" sz="19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pt-BR" sz="19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termometria (monitoramento)</a:t>
            </a:r>
            <a:r>
              <a:rPr lang="pt-BR" sz="19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e </a:t>
            </a:r>
            <a:r>
              <a:rPr lang="pt-BR" sz="19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controle de umidade.</a:t>
            </a:r>
          </a:p>
          <a:p>
            <a:pPr algn="just">
              <a:lnSpc>
                <a:spcPct val="150000"/>
              </a:lnSpc>
            </a:pPr>
            <a:r>
              <a:rPr lang="pt-BR" sz="1900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b) Depósito de ração</a:t>
            </a:r>
            <a:endParaRPr lang="pt-BR" sz="1900" kern="100" dirty="0">
              <a:effectLst/>
              <a:highlight>
                <a:srgbClr val="FFFF00"/>
              </a:highlight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19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Problemas comuns: </a:t>
            </a:r>
            <a:r>
              <a:rPr lang="pt-BR" sz="19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umidade → bolor, ratos e pássaros → contaminação e perda de proteína/nutrientes.</a:t>
            </a:r>
          </a:p>
          <a:p>
            <a:pPr algn="just">
              <a:lnSpc>
                <a:spcPct val="150000"/>
              </a:lnSpc>
            </a:pPr>
            <a:r>
              <a:rPr lang="pt-BR" sz="19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✅ Requisitos: </a:t>
            </a:r>
            <a:r>
              <a:rPr lang="pt-BR" sz="19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ventilação</a:t>
            </a:r>
            <a:r>
              <a:rPr lang="pt-BR" sz="190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pt-BR" sz="19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piso seco e elevado e controle de acesso de pragas.</a:t>
            </a:r>
          </a:p>
          <a:p>
            <a:pPr algn="just">
              <a:lnSpc>
                <a:spcPct val="150000"/>
              </a:lnSpc>
            </a:pPr>
            <a:r>
              <a:rPr lang="pt-BR" sz="1900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c) Depósito de defensivos agrícolas (muito importante!)</a:t>
            </a:r>
            <a:endParaRPr lang="pt-BR" sz="1900" kern="100" dirty="0">
              <a:effectLst/>
              <a:highlight>
                <a:srgbClr val="FFFF00"/>
              </a:highlight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19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É um tema que chama atenção em sala.</a:t>
            </a:r>
          </a:p>
          <a:p>
            <a:pPr algn="just">
              <a:lnSpc>
                <a:spcPct val="150000"/>
              </a:lnSpc>
            </a:pPr>
            <a:r>
              <a:rPr lang="pt-BR" sz="19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✅ Deve ter: </a:t>
            </a:r>
            <a:r>
              <a:rPr lang="pt-BR" sz="19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ventilação, isolamento de alimentos, piso impermeável, contenção (para vazamentos), sinalização e controle de acesso e prateleiras seguras e organizadas.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0514408-A7D2-E017-F923-A5B398439FDB}"/>
              </a:ext>
            </a:extLst>
          </p:cNvPr>
          <p:cNvSpPr/>
          <p:nvPr/>
        </p:nvSpPr>
        <p:spPr>
          <a:xfrm>
            <a:off x="9328" y="0"/>
            <a:ext cx="1217334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6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chemeClr val="bg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Armazenamento e Conservação</a:t>
            </a:r>
            <a:endParaRPr lang="pt-BR" sz="36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00B0F0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64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Interface gráfica do usuário, Site&#10;&#10;O conteúdo gerado por IA pode estar incorreto.">
            <a:extLst>
              <a:ext uri="{FF2B5EF4-FFF2-40B4-BE49-F238E27FC236}">
                <a16:creationId xmlns:a16="http://schemas.microsoft.com/office/drawing/2014/main" id="{5F78F927-7BC5-6749-4AFD-C70E0277D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283" y="0"/>
            <a:ext cx="102934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216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Diagrama&#10;&#10;O conteúdo gerado por IA pode estar incorreto.">
            <a:extLst>
              <a:ext uri="{FF2B5EF4-FFF2-40B4-BE49-F238E27FC236}">
                <a16:creationId xmlns:a16="http://schemas.microsoft.com/office/drawing/2014/main" id="{BA6D8ACC-D40D-F424-E0CF-42890C27F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283" y="0"/>
            <a:ext cx="102934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422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ixaDeTexto 21">
            <a:extLst>
              <a:ext uri="{FF2B5EF4-FFF2-40B4-BE49-F238E27FC236}">
                <a16:creationId xmlns:a16="http://schemas.microsoft.com/office/drawing/2014/main" id="{70FEE76C-809D-CE7F-4BFF-4515F38717AF}"/>
              </a:ext>
            </a:extLst>
          </p:cNvPr>
          <p:cNvSpPr txBox="1"/>
          <p:nvPr/>
        </p:nvSpPr>
        <p:spPr>
          <a:xfrm>
            <a:off x="9255967" y="6572869"/>
            <a:ext cx="2926705" cy="27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Emmanuel Zullo Godinho</a:t>
            </a:r>
            <a:endParaRPr lang="pt-BR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3AB398-14F7-7FA2-4A78-EB54A8D7E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" y="6438208"/>
            <a:ext cx="2654170" cy="41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6525188D-0CDA-FDB7-9CA0-BCC2246DB3E4}"/>
              </a:ext>
            </a:extLst>
          </p:cNvPr>
          <p:cNvSpPr txBox="1">
            <a:spLocks/>
          </p:cNvSpPr>
          <p:nvPr/>
        </p:nvSpPr>
        <p:spPr>
          <a:xfrm>
            <a:off x="2663498" y="6510203"/>
            <a:ext cx="4278791" cy="2758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Disciplina: Construções Rurais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2D94D38-1C39-2831-A2F8-EAB9F472C13B}"/>
              </a:ext>
            </a:extLst>
          </p:cNvPr>
          <p:cNvSpPr txBox="1"/>
          <p:nvPr/>
        </p:nvSpPr>
        <p:spPr>
          <a:xfrm>
            <a:off x="9328" y="811193"/>
            <a:ext cx="12188892" cy="5591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85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É a parte que garante: </a:t>
            </a:r>
            <a:r>
              <a:rPr lang="pt-BR" sz="18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proteção do trabalhador, redução de acidentes, manejo correto de resíduos e conformidade com normas e exigências ambientais.</a:t>
            </a:r>
          </a:p>
          <a:p>
            <a:pPr algn="just">
              <a:lnSpc>
                <a:spcPct val="150000"/>
              </a:lnSpc>
            </a:pPr>
            <a:r>
              <a:rPr lang="pt-BR" sz="1850" b="1" kern="1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✅ Riscos comuns em construções rurais</a:t>
            </a:r>
            <a:endParaRPr lang="pt-BR" sz="1850" kern="100" dirty="0">
              <a:effectLst/>
              <a:highlight>
                <a:srgbClr val="FFFF00"/>
              </a:highlight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185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a) Risco elétrico</a:t>
            </a:r>
            <a:endParaRPr lang="pt-BR" sz="185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185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Muito comum em: </a:t>
            </a:r>
            <a:r>
              <a:rPr lang="pt-BR" sz="18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bombas</a:t>
            </a:r>
            <a:r>
              <a:rPr lang="pt-BR" sz="185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pt-BR" sz="18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motores</a:t>
            </a:r>
            <a:r>
              <a:rPr lang="pt-BR" sz="185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pt-BR" sz="18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ordenha</a:t>
            </a:r>
            <a:r>
              <a:rPr lang="pt-BR" sz="185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e </a:t>
            </a:r>
            <a:r>
              <a:rPr lang="pt-BR" sz="18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secadores.</a:t>
            </a:r>
          </a:p>
          <a:p>
            <a:pPr algn="just">
              <a:lnSpc>
                <a:spcPct val="150000"/>
              </a:lnSpc>
            </a:pPr>
            <a:r>
              <a:rPr lang="pt-BR" sz="185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✅ Soluções: </a:t>
            </a:r>
            <a:r>
              <a:rPr lang="pt-BR" sz="18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aterramento</a:t>
            </a:r>
            <a:r>
              <a:rPr lang="pt-BR" sz="185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pt-BR" sz="18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disjuntores adequados, proteção de cabos e instalações feitas por profissional.</a:t>
            </a:r>
          </a:p>
          <a:p>
            <a:pPr algn="just">
              <a:lnSpc>
                <a:spcPct val="150000"/>
              </a:lnSpc>
            </a:pPr>
            <a:r>
              <a:rPr lang="pt-BR" sz="185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b) Incêndio</a:t>
            </a:r>
            <a:endParaRPr lang="pt-BR" sz="185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185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Risco alto quando existe: </a:t>
            </a:r>
            <a:r>
              <a:rPr lang="pt-BR" sz="18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feno seco, palha</a:t>
            </a:r>
            <a:r>
              <a:rPr lang="pt-BR" sz="185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pt-BR" sz="18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combustível</a:t>
            </a:r>
            <a:r>
              <a:rPr lang="pt-BR" sz="185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e </a:t>
            </a:r>
            <a:r>
              <a:rPr lang="pt-BR" sz="18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curto-circuito.</a:t>
            </a:r>
          </a:p>
          <a:p>
            <a:pPr algn="just">
              <a:lnSpc>
                <a:spcPct val="150000"/>
              </a:lnSpc>
            </a:pPr>
            <a:r>
              <a:rPr lang="pt-BR" sz="185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✅ Medidas: </a:t>
            </a:r>
            <a:r>
              <a:rPr lang="pt-BR" sz="18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extintores em pontos estratégicos</a:t>
            </a:r>
            <a:r>
              <a:rPr lang="pt-BR" sz="185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pt-BR" sz="18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afastamento de combustível, sinalização</a:t>
            </a:r>
            <a:r>
              <a:rPr lang="pt-BR" sz="185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e </a:t>
            </a:r>
            <a:r>
              <a:rPr lang="pt-BR" sz="18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ventilação e limpeza.</a:t>
            </a:r>
          </a:p>
          <a:p>
            <a:pPr algn="just">
              <a:lnSpc>
                <a:spcPct val="150000"/>
              </a:lnSpc>
            </a:pPr>
            <a:r>
              <a:rPr lang="pt-BR" sz="185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c) Dejetos e resíduos</a:t>
            </a:r>
            <a:endParaRPr lang="pt-BR" sz="185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185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 forem mal manejados, causam: </a:t>
            </a:r>
            <a:r>
              <a:rPr lang="pt-BR" sz="18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mau cheiro, contaminação de água, emissão de gases e problemas legais/ambientais.</a:t>
            </a:r>
          </a:p>
          <a:p>
            <a:pPr algn="just">
              <a:lnSpc>
                <a:spcPct val="150000"/>
              </a:lnSpc>
            </a:pPr>
            <a:r>
              <a:rPr lang="pt-BR" sz="185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✅ Construções associadas: </a:t>
            </a:r>
            <a:r>
              <a:rPr lang="pt-BR" sz="18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esterqueira impermeabilizada, biodigestor</a:t>
            </a:r>
            <a:r>
              <a:rPr lang="pt-BR" sz="185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pt-BR" sz="18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compostagem</a:t>
            </a:r>
            <a:r>
              <a:rPr lang="pt-BR" sz="1850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e </a:t>
            </a:r>
            <a:r>
              <a:rPr lang="pt-BR" sz="185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lagoas de estabilização.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30993E2-C118-0590-DB0F-2BA51D81F731}"/>
              </a:ext>
            </a:extLst>
          </p:cNvPr>
          <p:cNvSpPr/>
          <p:nvPr/>
        </p:nvSpPr>
        <p:spPr>
          <a:xfrm>
            <a:off x="9328" y="0"/>
            <a:ext cx="1217334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6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chemeClr val="bg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Segurança, Normas e Sustentabilidade</a:t>
            </a:r>
            <a:endParaRPr lang="pt-BR" sz="36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00B0F0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02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ntendo ao ar livre, grama, homem, em pé&#10;&#10;O conteúdo gerado por IA pode estar incorreto.">
            <a:extLst>
              <a:ext uri="{FF2B5EF4-FFF2-40B4-BE49-F238E27FC236}">
                <a16:creationId xmlns:a16="http://schemas.microsoft.com/office/drawing/2014/main" id="{8F150207-C862-9D2B-FE33-33B8F84F3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167" y="0"/>
            <a:ext cx="10291665" cy="685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2357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Diagrama&#10;&#10;O conteúdo gerado por IA pode estar incorreto.">
            <a:extLst>
              <a:ext uri="{FF2B5EF4-FFF2-40B4-BE49-F238E27FC236}">
                <a16:creationId xmlns:a16="http://schemas.microsoft.com/office/drawing/2014/main" id="{2765C1C2-CE1F-2F10-1ED2-D8300AC53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283" y="0"/>
            <a:ext cx="102934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8238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ntendo pessoa, no interior, em pé, homem&#10;&#10;O conteúdo gerado por IA pode estar incorreto.">
            <a:extLst>
              <a:ext uri="{FF2B5EF4-FFF2-40B4-BE49-F238E27FC236}">
                <a16:creationId xmlns:a16="http://schemas.microsoft.com/office/drawing/2014/main" id="{ECD07329-1789-BE63-B3F9-70515AF71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835" y="0"/>
            <a:ext cx="10300997" cy="6863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84337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4999</TotalTime>
  <Words>1388</Words>
  <Application>Microsoft Office PowerPoint</Application>
  <PresentationFormat>Widescreen</PresentationFormat>
  <Paragraphs>107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3" baseType="lpstr">
      <vt:lpstr>Arial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BEATRIZ</dc:creator>
  <cp:lastModifiedBy>Emmanuel Zullo Godinho</cp:lastModifiedBy>
  <cp:revision>200</cp:revision>
  <dcterms:created xsi:type="dcterms:W3CDTF">2022-02-24T16:45:54Z</dcterms:created>
  <dcterms:modified xsi:type="dcterms:W3CDTF">2026-01-27T13:50:16Z</dcterms:modified>
</cp:coreProperties>
</file>