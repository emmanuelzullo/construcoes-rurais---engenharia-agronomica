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421" r:id="rId2"/>
    <p:sldId id="427" r:id="rId3"/>
    <p:sldId id="439" r:id="rId4"/>
    <p:sldId id="462" r:id="rId5"/>
    <p:sldId id="470" r:id="rId6"/>
    <p:sldId id="472" r:id="rId7"/>
    <p:sldId id="447" r:id="rId8"/>
    <p:sldId id="471" r:id="rId9"/>
    <p:sldId id="448" r:id="rId10"/>
    <p:sldId id="449" r:id="rId11"/>
    <p:sldId id="450" r:id="rId12"/>
    <p:sldId id="467" r:id="rId13"/>
    <p:sldId id="468" r:id="rId14"/>
    <p:sldId id="464" r:id="rId15"/>
    <p:sldId id="465" r:id="rId16"/>
    <p:sldId id="451" r:id="rId17"/>
    <p:sldId id="469" r:id="rId18"/>
    <p:sldId id="452" r:id="rId19"/>
    <p:sldId id="453" r:id="rId20"/>
    <p:sldId id="454" r:id="rId21"/>
    <p:sldId id="455" r:id="rId22"/>
    <p:sldId id="456" r:id="rId23"/>
    <p:sldId id="457" r:id="rId24"/>
    <p:sldId id="458" r:id="rId25"/>
    <p:sldId id="473" r:id="rId26"/>
    <p:sldId id="460" r:id="rId27"/>
    <p:sldId id="474" r:id="rId28"/>
    <p:sldId id="30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46" autoAdjust="0"/>
    <p:restoredTop sz="94660"/>
  </p:normalViewPr>
  <p:slideViewPr>
    <p:cSldViewPr snapToGrid="0">
      <p:cViewPr varScale="1">
        <p:scale>
          <a:sx n="82" d="100"/>
          <a:sy n="82" d="100"/>
        </p:scale>
        <p:origin x="9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10C8CFB6-1123-372D-F477-A6FAA024A17D}"/>
              </a:ext>
            </a:extLst>
          </p:cNvPr>
          <p:cNvSpPr/>
          <p:nvPr/>
        </p:nvSpPr>
        <p:spPr>
          <a:xfrm>
            <a:off x="-90072" y="0"/>
            <a:ext cx="1219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Suinocultura x Ambiência Rural</a:t>
            </a:r>
          </a:p>
        </p:txBody>
      </p:sp>
      <p:pic>
        <p:nvPicPr>
          <p:cNvPr id="7" name="Imagem 6" descr="Roedor dentro de gaiola&#10;&#10;O conteúdo gerado por IA pode estar incorreto.">
            <a:extLst>
              <a:ext uri="{FF2B5EF4-FFF2-40B4-BE49-F238E27FC236}">
                <a16:creationId xmlns:a16="http://schemas.microsoft.com/office/drawing/2014/main" id="{3E8E9C7B-1E59-0C06-F51C-BF88A899C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811" y="789640"/>
            <a:ext cx="9108233" cy="606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396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1C889B2-14DC-8DD5-BB00-B12D8CBFF587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Economia Bovinos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8B2F856-6EE9-AB0A-51D6-65C7B6857E89}"/>
              </a:ext>
            </a:extLst>
          </p:cNvPr>
          <p:cNvSpPr txBox="1"/>
          <p:nvPr/>
        </p:nvSpPr>
        <p:spPr>
          <a:xfrm>
            <a:off x="18656" y="806632"/>
            <a:ext cx="12173344" cy="50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1) Por que a suinocultura é estratégica na economia brasileira?</a:t>
            </a:r>
            <a:endParaRPr lang="pt-BR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suinocultura ocupa posição central no agronegócio brasileiro e global, movendo bilhões de reais e sendo um dos setores mais eficientes na conversão alimentar.</a:t>
            </a:r>
          </a:p>
          <a:p>
            <a:pPr algn="just">
              <a:lnSpc>
                <a:spcPct val="150000"/>
              </a:lnSpc>
            </a:pPr>
            <a:r>
              <a:rPr lang="pt-BR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Razões estratégicas</a:t>
            </a:r>
            <a:endParaRPr lang="pt-BR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Produção de proteína animal de alto valor biológico</a:t>
            </a: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com forte demanda doméstica (76% da produção fica no Brasil).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Geração de empregos diretos e indiretos</a:t>
            </a: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mais de 17,5 mil estabelecimentos com produção </a:t>
            </a:r>
            <a:r>
              <a:rPr lang="pt-BR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tecnificada</a:t>
            </a: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</a:t>
            </a:r>
            <a:r>
              <a:rPr lang="pt-BR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Crescente papel nas exportações</a:t>
            </a: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1,3 milhão de toneladas exportadas em 2024, gerando </a:t>
            </a:r>
            <a:r>
              <a:rPr lang="pt-BR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US$ 3 bilhões</a:t>
            </a: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</a:t>
            </a:r>
            <a:r>
              <a:rPr lang="pt-BR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Movimenta uma extensa cadeia produtiva</a:t>
            </a: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incluindo genética, nutrição, equipamentos, indústria frigorífica e logística.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Setor altamente </a:t>
            </a:r>
            <a:r>
              <a:rPr lang="pt-BR" b="1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tecnificado</a:t>
            </a: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com avanços em ambiência, nutrição, manejo, biosseguridade e genética.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Alta eficiência produtiva</a:t>
            </a: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a suinocultura brasileira está entre as melhores do mundo em conversão alimentar.</a:t>
            </a:r>
          </a:p>
        </p:txBody>
      </p:sp>
    </p:spTree>
    <p:extLst>
      <p:ext uri="{BB962C8B-B14F-4D97-AF65-F5344CB8AC3E}">
        <p14:creationId xmlns:p14="http://schemas.microsoft.com/office/powerpoint/2010/main" val="111073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3844AE5-BD95-0656-88D4-F05F38EBB760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93ECB05-0DCC-A984-F29A-EEA204EA3750}"/>
              </a:ext>
            </a:extLst>
          </p:cNvPr>
          <p:cNvSpPr txBox="1">
            <a:spLocks/>
          </p:cNvSpPr>
          <p:nvPr/>
        </p:nvSpPr>
        <p:spPr>
          <a:xfrm>
            <a:off x="6659373" y="6572869"/>
            <a:ext cx="2848522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B78EE20-CED0-A068-F9F2-ADD492245ABD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Cadeia Produtiva da Suinocultura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B8F8040-04EC-79FB-537F-3F3DF8AA6570}"/>
              </a:ext>
            </a:extLst>
          </p:cNvPr>
          <p:cNvSpPr txBox="1"/>
          <p:nvPr/>
        </p:nvSpPr>
        <p:spPr>
          <a:xfrm>
            <a:off x="-1" y="657463"/>
            <a:ext cx="12182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2) Cadeia produtiva da suinocultura (com divisão em cria, recria e engorda)</a:t>
            </a:r>
            <a:endParaRPr lang="pt-BR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cadeia é dividida em dois grandes elos produtivos: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42F64EB-67F8-7E16-C904-03B854BE35F2}"/>
              </a:ext>
            </a:extLst>
          </p:cNvPr>
          <p:cNvSpPr txBox="1"/>
          <p:nvPr/>
        </p:nvSpPr>
        <p:spPr>
          <a:xfrm>
            <a:off x="5831632" y="1349172"/>
            <a:ext cx="6351040" cy="5217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🐷 B) Engorda (terminação)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Função: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levar o suíno até peso de abate com máximo rendimento de carcaça.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Cerca de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13,5 mil granjas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brasileiras atuam apenas na engorda.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Utilização de sistemas de </a:t>
            </a:r>
            <a:r>
              <a:rPr lang="pt-B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crechário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+ terminação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ou </a:t>
            </a:r>
            <a:r>
              <a:rPr lang="pt-B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wean-to-finish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💰 Onde se gera dinheiro na engorda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Venda de animais prontos para abate (56–120 kg dependendo do sistema).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Remuneração por qualidade de carcaça.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Indústrias de ração, sanidade, equipamentos e tecnologias de ambiência.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Frigoríficos, transportadoras e comércio de carne suína.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30D49DA-4124-DAE9-751F-BB3A8730B3D1}"/>
              </a:ext>
            </a:extLst>
          </p:cNvPr>
          <p:cNvSpPr txBox="1"/>
          <p:nvPr/>
        </p:nvSpPr>
        <p:spPr>
          <a:xfrm>
            <a:off x="0" y="1299555"/>
            <a:ext cx="5784979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 b="1" dirty="0">
                <a:latin typeface="Arial" panose="020B0604020202020204" pitchFamily="34" charset="0"/>
                <a:cs typeface="Arial" panose="020B0604020202020204" pitchFamily="34" charset="0"/>
              </a:rPr>
              <a:t>🐽 A) Produção de Leitões (Cria e Recria)</a:t>
            </a:r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300" b="1" dirty="0">
                <a:latin typeface="Arial" panose="020B0604020202020204" pitchFamily="34" charset="0"/>
                <a:cs typeface="Arial" panose="020B0604020202020204" pitchFamily="34" charset="0"/>
              </a:rPr>
              <a:t>Função: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produção de leitões desmamados com alto potencial de crescimento.</a:t>
            </a:r>
          </a:p>
          <a:p>
            <a:pPr algn="just">
              <a:lnSpc>
                <a:spcPct val="150000"/>
              </a:lnSpc>
            </a:pPr>
            <a:r>
              <a:rPr lang="pt-BR" sz="1300" b="1" dirty="0">
                <a:latin typeface="Arial" panose="020B0604020202020204" pitchFamily="34" charset="0"/>
                <a:cs typeface="Arial" panose="020B0604020202020204" pitchFamily="34" charset="0"/>
              </a:rPr>
              <a:t>🔹 </a:t>
            </a:r>
            <a:r>
              <a:rPr lang="pt-BR" sz="1300" b="1" i="1" dirty="0">
                <a:latin typeface="Arial" panose="020B0604020202020204" pitchFamily="34" charset="0"/>
                <a:cs typeface="Arial" panose="020B0604020202020204" pitchFamily="34" charset="0"/>
              </a:rPr>
              <a:t>Cria</a:t>
            </a:r>
            <a:r>
              <a:rPr lang="pt-BR" sz="1300" b="1" dirty="0">
                <a:latin typeface="Arial" panose="020B0604020202020204" pitchFamily="34" charset="0"/>
                <a:cs typeface="Arial" panose="020B0604020202020204" pitchFamily="34" charset="0"/>
              </a:rPr>
              <a:t> – setor de matrizes (reprodução)</a:t>
            </a:r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Manejo reprodutivo, inseminação e gestação.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Parideiras, manejo de leitões,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colostragem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e sanidade.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É responsável pela </a:t>
            </a:r>
            <a:r>
              <a:rPr lang="pt-BR" sz="1300" b="1" dirty="0">
                <a:latin typeface="Arial" panose="020B0604020202020204" pitchFamily="34" charset="0"/>
                <a:cs typeface="Arial" panose="020B0604020202020204" pitchFamily="34" charset="0"/>
              </a:rPr>
              <a:t>qualidade genética e sanitária dos animais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pt-BR" sz="1300" b="1" dirty="0">
                <a:latin typeface="Arial" panose="020B0604020202020204" pitchFamily="34" charset="0"/>
                <a:cs typeface="Arial" panose="020B0604020202020204" pitchFamily="34" charset="0"/>
              </a:rPr>
              <a:t>🔹 </a:t>
            </a:r>
            <a:r>
              <a:rPr lang="pt-BR" sz="1300" b="1" i="1" dirty="0">
                <a:latin typeface="Arial" panose="020B0604020202020204" pitchFamily="34" charset="0"/>
                <a:cs typeface="Arial" panose="020B0604020202020204" pitchFamily="34" charset="0"/>
              </a:rPr>
              <a:t>Recria</a:t>
            </a:r>
            <a:r>
              <a:rPr lang="pt-BR" sz="1300" b="1" dirty="0">
                <a:latin typeface="Arial" panose="020B0604020202020204" pitchFamily="34" charset="0"/>
                <a:cs typeface="Arial" panose="020B0604020202020204" pitchFamily="34" charset="0"/>
              </a:rPr>
              <a:t> – do desmame até o início da engorda</a:t>
            </a:r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</a:pP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Fase em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crechários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 altamente controlados.</a:t>
            </a:r>
          </a:p>
          <a:p>
            <a:pPr lvl="0" algn="just">
              <a:lnSpc>
                <a:spcPct val="150000"/>
              </a:lnSpc>
            </a:pP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Foco em ganho de peso, sanidade e ambiência.</a:t>
            </a:r>
          </a:p>
          <a:p>
            <a:pPr lvl="0" algn="just">
              <a:lnSpc>
                <a:spcPct val="150000"/>
              </a:lnSpc>
            </a:pP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Brasil possui cerca de </a:t>
            </a:r>
            <a:r>
              <a:rPr lang="pt-BR" sz="1300" b="1" dirty="0">
                <a:latin typeface="Arial" panose="020B0604020202020204" pitchFamily="34" charset="0"/>
                <a:cs typeface="Arial" panose="020B0604020202020204" pitchFamily="34" charset="0"/>
              </a:rPr>
              <a:t>4 mil granjas </a:t>
            </a:r>
            <a:r>
              <a:rPr lang="pt-BR"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tecnificadas</a:t>
            </a:r>
            <a:r>
              <a:rPr lang="pt-BR" sz="1300" b="1" dirty="0">
                <a:latin typeface="Arial" panose="020B0604020202020204" pitchFamily="34" charset="0"/>
                <a:cs typeface="Arial" panose="020B0604020202020204" pitchFamily="34" charset="0"/>
              </a:rPr>
              <a:t> com matrizes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pt-BR" sz="1300" b="1" dirty="0">
                <a:latin typeface="Arial" panose="020B0604020202020204" pitchFamily="34" charset="0"/>
                <a:cs typeface="Arial" panose="020B0604020202020204" pitchFamily="34" charset="0"/>
              </a:rPr>
              <a:t>💰 Onde se gera dinheiro na cria/recria</a:t>
            </a:r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Venda de leitões para terminadores.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Venda de genética (sementes, matrizes, reprodutores).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Contratos de integração (avaliação por desempenho e conversão alimentar).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Indústrias de ração </a:t>
            </a:r>
            <a:r>
              <a:rPr lang="pt-BR" sz="1300" dirty="0" err="1">
                <a:latin typeface="Arial" panose="020B0604020202020204" pitchFamily="34" charset="0"/>
                <a:cs typeface="Arial" panose="020B0604020202020204" pitchFamily="34" charset="0"/>
              </a:rPr>
              <a:t>pré</a:t>
            </a: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-inicial, medicamentos, equipamentos e ambiência.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0F589572-7E8F-2F85-D576-9D98B3252D21}"/>
              </a:ext>
            </a:extLst>
          </p:cNvPr>
          <p:cNvCxnSpPr>
            <a:cxnSpLocks/>
          </p:cNvCxnSpPr>
          <p:nvPr/>
        </p:nvCxnSpPr>
        <p:spPr>
          <a:xfrm>
            <a:off x="5784979" y="1397104"/>
            <a:ext cx="0" cy="5206409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56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32C80F13-15F3-C209-C567-8841CE728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83" y="0"/>
            <a:ext cx="10293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77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3844AE5-BD95-0656-88D4-F05F38EBB760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A8BC59-D158-0621-393D-36FF2484E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93ECB05-0DCC-A984-F29A-EEA204EA3750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B78EE20-CED0-A068-F9F2-ADD492245ABD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Cadeia Produtiva da Suinocultura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ACEB974-3C31-D72D-2A3D-994A98C82735}"/>
              </a:ext>
            </a:extLst>
          </p:cNvPr>
          <p:cNvSpPr txBox="1"/>
          <p:nvPr/>
        </p:nvSpPr>
        <p:spPr>
          <a:xfrm>
            <a:off x="-20212" y="965565"/>
            <a:ext cx="12202884" cy="45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🏭 Cadeia completa (Cria → Recria → Engorda → Indústria)</a:t>
            </a:r>
            <a:endParaRPr lang="pt-BR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2BC2F84-9A1D-CC11-B46F-E649384A0325}"/>
              </a:ext>
            </a:extLst>
          </p:cNvPr>
          <p:cNvSpPr txBox="1"/>
          <p:nvPr/>
        </p:nvSpPr>
        <p:spPr>
          <a:xfrm>
            <a:off x="5791979" y="2413721"/>
            <a:ext cx="6390693" cy="2534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Setores industriais relacionados:</a:t>
            </a:r>
            <a:endParaRPr lang="pt-BR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Rações;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Equipamentos e automação;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Construção rural;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Logística e transporte;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Serviços técnicos (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vets</a:t>
            </a: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zootecnistas, agrônomos)</a:t>
            </a:r>
            <a:r>
              <a:rPr lang="pt-BR" sz="18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EB55A0-3F8C-C246-CD34-C3AEF9325E78}"/>
              </a:ext>
            </a:extLst>
          </p:cNvPr>
          <p:cNvSpPr txBox="1"/>
          <p:nvPr/>
        </p:nvSpPr>
        <p:spPr>
          <a:xfrm>
            <a:off x="9328" y="1931916"/>
            <a:ext cx="5768652" cy="3780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Elos que movimentam capital:</a:t>
            </a:r>
            <a:endParaRPr lang="pt-BR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Genética, reprodutores e IA;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Nutrição (milho, soja,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premixes</a:t>
            </a: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aditivos);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Ambiência (ventilação, climatização, cortinas, nebulização);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Sanidade (vacinas, antibióticos controlados);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Crechários</a:t>
            </a: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terminação;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Frigoríficos e indústria da carne;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Exportadores e varejo interno.</a:t>
            </a:r>
            <a:endParaRPr lang="pt-BR" dirty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60FDCC19-8E69-E989-ADCE-AB20E941F490}"/>
              </a:ext>
            </a:extLst>
          </p:cNvPr>
          <p:cNvCxnSpPr>
            <a:cxnSpLocks/>
          </p:cNvCxnSpPr>
          <p:nvPr/>
        </p:nvCxnSpPr>
        <p:spPr>
          <a:xfrm>
            <a:off x="5784979" y="1649031"/>
            <a:ext cx="7000" cy="4331892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585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61B3D3E0-4D6A-01CD-7BAF-8BF614C9F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93" y="-4591"/>
            <a:ext cx="10300324" cy="686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19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3844AE5-BD95-0656-88D4-F05F38EBB760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A8BC59-D158-0621-393D-36FF2484E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93ECB05-0DCC-A984-F29A-EEA204EA3750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7584FC4-3C15-265F-FFFB-21C0ED1AFB3F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Economia Bovinos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E5477F-0FB5-3E91-67A5-5747E1DB2727}"/>
              </a:ext>
            </a:extLst>
          </p:cNvPr>
          <p:cNvSpPr txBox="1"/>
          <p:nvPr/>
        </p:nvSpPr>
        <p:spPr>
          <a:xfrm>
            <a:off x="-10884" y="779881"/>
            <a:ext cx="12202884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3) Mercado nacional: por que a suinocultura pesa tanto no Brasil?</a:t>
            </a:r>
            <a:endParaRPr lang="pt-BR" sz="200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🇧🇷 Fatores estruturais:</a:t>
            </a:r>
            <a:endParaRPr lang="pt-BR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Produção interna de </a:t>
            </a:r>
            <a:r>
              <a:rPr lang="pt-BR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5,3 milhões de toneladas</a:t>
            </a: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em 2024. </a:t>
            </a:r>
            <a:r>
              <a:rPr lang="pt-BR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Forte consumo doméstico</a:t>
            </a: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quase 20 kg per capita.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Cadeia altamente concentrada e eficiente — dominada pela região Sul, que abate: </a:t>
            </a:r>
          </a:p>
          <a:p>
            <a:pPr marL="742950" lvl="1" indent="-28575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pt-BR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Santa Catarina:</a:t>
            </a: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30% dos abates nacionais e 55% das exportações. </a:t>
            </a:r>
          </a:p>
          <a:p>
            <a:pPr marL="742950" lvl="1" indent="-28575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pt-BR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Paraná</a:t>
            </a: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sz="20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Rio Grande do Sul</a:t>
            </a: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completam 52% do plantel total.</a:t>
            </a:r>
          </a:p>
          <a:p>
            <a:pPr algn="just">
              <a:lnSpc>
                <a:spcPct val="150000"/>
              </a:lnSpc>
            </a:pPr>
            <a:r>
              <a:rPr lang="pt-BR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🌾 Importância estrutural:</a:t>
            </a:r>
            <a:endParaRPr lang="pt-BR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Em muitas regiões, a suinocultura sustenta economias locais onde culturas agrícolas não são tão viáveis.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Integrações e cooperativas são fundamentais no Sul.</a:t>
            </a:r>
          </a:p>
        </p:txBody>
      </p:sp>
    </p:spTree>
    <p:extLst>
      <p:ext uri="{BB962C8B-B14F-4D97-AF65-F5344CB8AC3E}">
        <p14:creationId xmlns:p14="http://schemas.microsoft.com/office/powerpoint/2010/main" val="3810748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Mapa&#10;&#10;O conteúdo gerado por IA pode estar incorreto.">
            <a:extLst>
              <a:ext uri="{FF2B5EF4-FFF2-40B4-BE49-F238E27FC236}">
                <a16:creationId xmlns:a16="http://schemas.microsoft.com/office/drawing/2014/main" id="{961BA8EE-040C-9158-58D6-71141FC8A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833" y="0"/>
            <a:ext cx="10282334" cy="685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781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3844AE5-BD95-0656-88D4-F05F38EBB760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A8BC59-D158-0621-393D-36FF2484E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93ECB05-0DCC-A984-F29A-EEA204EA3750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EBF1EF9-D1E8-8477-7EAC-7D0508B2E896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Mercado Internacional 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7389707-3099-3399-6F53-2077DC003629}"/>
              </a:ext>
            </a:extLst>
          </p:cNvPr>
          <p:cNvSpPr txBox="1"/>
          <p:nvPr/>
        </p:nvSpPr>
        <p:spPr>
          <a:xfrm>
            <a:off x="0" y="715312"/>
            <a:ext cx="12173344" cy="5438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95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4) Mercado internacional: por que o Brasil é forte em carne suína?</a:t>
            </a:r>
            <a:endParaRPr lang="pt-BR" sz="195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9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🌍 Exportações (2024)</a:t>
            </a:r>
            <a:r>
              <a:rPr lang="pt-BR" sz="19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pt-BR" sz="19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1,3 milhão de toneladas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exportadas. Receita superior a </a:t>
            </a:r>
            <a:r>
              <a:rPr lang="pt-BR" sz="19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US$ 3 bilhões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b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pt-BR" sz="19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🌏 Principais destinos:</a:t>
            </a:r>
            <a:r>
              <a:rPr lang="pt-BR" sz="195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Ásia (China, Filipinas, Hong Kong)</a:t>
            </a:r>
            <a:r>
              <a:rPr lang="pt-BR" sz="19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Américas (Chile, EUA) e 89 países compram carne suína brasileira. </a:t>
            </a:r>
          </a:p>
          <a:p>
            <a:pPr lvl="0" algn="just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pt-BR" sz="19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🧭 Por que o Brasil é competitivo?</a:t>
            </a:r>
            <a:r>
              <a:rPr lang="pt-BR" sz="195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Escala de produção. Índices zootécnicos elevados. Indústrias modernas e certificadas. Custos competitivos (milho e soja nacionais). Status sanitário reconhecido (SC é zona livre de febre aftosa sem vacinação).</a:t>
            </a:r>
          </a:p>
          <a:p>
            <a:pPr lvl="0" algn="just">
              <a:lnSpc>
                <a:spcPct val="150000"/>
              </a:lnSpc>
              <a:buSzPts val="1000"/>
              <a:tabLst>
                <a:tab pos="457200" algn="l"/>
              </a:tabLst>
            </a:pPr>
            <a:endParaRPr lang="pt-BR" sz="195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95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5) O que move o crescimento da suinocultura no mundo?</a:t>
            </a:r>
            <a:endParaRPr lang="pt-BR" sz="195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9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🌍 Motores globais de expansão:</a:t>
            </a:r>
            <a:r>
              <a:rPr lang="pt-BR" sz="195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Aumento populacional. Crescimento de renda em países emergentes. Urbanização e demanda por produtos industrializados. Avanços em genética, nutrição e sanidade. Maior rigor em biosseguridade (pós-PPC e PSA). Carne suína é a </a:t>
            </a:r>
            <a:r>
              <a:rPr lang="pt-BR" sz="19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proteína animal mais consumida no mundo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3346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Mapa&#10;&#10;O conteúdo gerado por IA pode estar incorreto.">
            <a:extLst>
              <a:ext uri="{FF2B5EF4-FFF2-40B4-BE49-F238E27FC236}">
                <a16:creationId xmlns:a16="http://schemas.microsoft.com/office/drawing/2014/main" id="{A9CB7204-4221-4512-DF5A-2CA2A1660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837" y="0"/>
            <a:ext cx="10310326" cy="686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236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3844AE5-BD95-0656-88D4-F05F38EBB760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A8BC59-D158-0621-393D-36FF2484E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93ECB05-0DCC-A984-F29A-EEA204EA3750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2A2668-0A06-7545-44C2-5B786DAD2F80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Mercado Agronômico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F02A124-6E36-80E7-0A50-D298E7AAA014}"/>
              </a:ext>
            </a:extLst>
          </p:cNvPr>
          <p:cNvSpPr txBox="1"/>
          <p:nvPr/>
        </p:nvSpPr>
        <p:spPr>
          <a:xfrm>
            <a:off x="0" y="753299"/>
            <a:ext cx="12202884" cy="50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8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6) O que isso tem a ver com Engenharia Agronômica?</a:t>
            </a:r>
            <a:endParaRPr lang="pt-BR" sz="180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 agrônomo atua no </a:t>
            </a:r>
            <a:r>
              <a:rPr lang="pt-BR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núcleo técnico</a:t>
            </a: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da cadeia suína, mesmo que o animal não seja ruminante.</a:t>
            </a:r>
          </a:p>
          <a:p>
            <a:pPr algn="just">
              <a:lnSpc>
                <a:spcPct val="150000"/>
              </a:lnSpc>
            </a:pPr>
            <a:endParaRPr lang="pt-BR" sz="1800" b="1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👨‍🌾 Principais áreas de atuação:</a:t>
            </a:r>
            <a:endParaRPr lang="pt-BR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Produção de milho, soja, farelos e aditivos.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Manejo e construção de instalações (ambiente, bem‑estar, ventilação).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Projeto e operação de sistemas de ambiência.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Sistemas de produção integrados (ILP/ILPF com suinocultura é possível via fertilização orgânica).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Gestão de dejetos e sustentabilidade.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Fertilidade do solo e aproveitamento agrícola do esterco (adubação orgânica).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Economia rural aplicada a sistemas intensivos.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Planejamento técnico/produtivo e análise de viabilidade.</a:t>
            </a:r>
          </a:p>
        </p:txBody>
      </p:sp>
    </p:spTree>
    <p:extLst>
      <p:ext uri="{BB962C8B-B14F-4D97-AF65-F5344CB8AC3E}">
        <p14:creationId xmlns:p14="http://schemas.microsoft.com/office/powerpoint/2010/main" val="1411388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3EEE4795-A2AD-63FD-4E2E-9C3D3A43D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836" y="-11255"/>
            <a:ext cx="10310327" cy="686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67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3844AE5-BD95-0656-88D4-F05F38EBB760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A8BC59-D158-0621-393D-36FF2484E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93ECB05-0DCC-A984-F29A-EEA204EA3750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B78EE20-CED0-A068-F9F2-ADD492245ABD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Indicadores econômicos e produtivos</a:t>
            </a:r>
            <a:endParaRPr lang="pt-B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B8F8040-04EC-79FB-537F-3F3DF8AA6570}"/>
              </a:ext>
            </a:extLst>
          </p:cNvPr>
          <p:cNvSpPr txBox="1"/>
          <p:nvPr/>
        </p:nvSpPr>
        <p:spPr>
          <a:xfrm>
            <a:off x="-1" y="657463"/>
            <a:ext cx="12182673" cy="87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7) Indicadores econômicos e produtivos que mandam no resultado</a:t>
            </a:r>
            <a:endParaRPr lang="pt-BR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🐽 Na suinocultura (cria, recria e engorda)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0F589572-7E8F-2F85-D576-9D98B3252D21}"/>
              </a:ext>
            </a:extLst>
          </p:cNvPr>
          <p:cNvCxnSpPr>
            <a:cxnSpLocks/>
          </p:cNvCxnSpPr>
          <p:nvPr/>
        </p:nvCxnSpPr>
        <p:spPr>
          <a:xfrm>
            <a:off x="3704254" y="1829463"/>
            <a:ext cx="0" cy="4585679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026AEEA-7519-6A36-05F8-45C3A67ABDF4}"/>
              </a:ext>
            </a:extLst>
          </p:cNvPr>
          <p:cNvCxnSpPr>
            <a:cxnSpLocks/>
          </p:cNvCxnSpPr>
          <p:nvPr/>
        </p:nvCxnSpPr>
        <p:spPr>
          <a:xfrm>
            <a:off x="7492475" y="1829463"/>
            <a:ext cx="0" cy="4585679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6C7DE95D-58DB-6C39-7329-D775097246E2}"/>
              </a:ext>
            </a:extLst>
          </p:cNvPr>
          <p:cNvSpPr txBox="1"/>
          <p:nvPr/>
        </p:nvSpPr>
        <p:spPr>
          <a:xfrm>
            <a:off x="9328" y="2063741"/>
            <a:ext cx="3694927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Cria (matrizes)</a:t>
            </a:r>
            <a:endParaRPr lang="pt-BR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Número de leitões desmamados/fêmea/ano.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Taxa de parto.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Intervalo desmame‑cio.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Mortalidade na maternidade.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E1ED77C-AA8C-52B0-8B56-7F6F351CC7C0}"/>
              </a:ext>
            </a:extLst>
          </p:cNvPr>
          <p:cNvSpPr txBox="1"/>
          <p:nvPr/>
        </p:nvSpPr>
        <p:spPr>
          <a:xfrm>
            <a:off x="3722916" y="2468427"/>
            <a:ext cx="3769558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Recria</a:t>
            </a:r>
            <a:endParaRPr lang="pt-BR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Ganho de peso diário (GPD) na creche.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Conversão alimentar na creche.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Mortalidade na creche.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AE6271A-65A3-36E8-2FA4-BEF39AFBC11C}"/>
              </a:ext>
            </a:extLst>
          </p:cNvPr>
          <p:cNvSpPr txBox="1"/>
          <p:nvPr/>
        </p:nvSpPr>
        <p:spPr>
          <a:xfrm>
            <a:off x="7492475" y="1829463"/>
            <a:ext cx="4699525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Engorda</a:t>
            </a:r>
            <a:endParaRPr lang="pt-BR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Ganho de peso diário (GPD).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Conversão alimentar (CA).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Peso de abate.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Idade ao abate.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Índices de mortalidade.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 por kg de suíno vivo.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 da ração (70–80% do custo total).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Preço do kg vivo e preço da carcaça no frigorífico.</a:t>
            </a:r>
          </a:p>
        </p:txBody>
      </p:sp>
    </p:spTree>
    <p:extLst>
      <p:ext uri="{BB962C8B-B14F-4D97-AF65-F5344CB8AC3E}">
        <p14:creationId xmlns:p14="http://schemas.microsoft.com/office/powerpoint/2010/main" val="68130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51B0B171-DFA1-E016-D274-E8B14E3C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83" y="0"/>
            <a:ext cx="10293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48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EE0C3439-62A0-3531-B43D-08ED54A11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83" y="0"/>
            <a:ext cx="10293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44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1C889B2-14DC-8DD5-BB00-B12D8CBFF587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Suínos cria recria engorda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AFD6A9C-A36A-7405-D6A7-D10304586E50}"/>
              </a:ext>
            </a:extLst>
          </p:cNvPr>
          <p:cNvSpPr txBox="1"/>
          <p:nvPr/>
        </p:nvSpPr>
        <p:spPr>
          <a:xfrm>
            <a:off x="9328" y="820337"/>
            <a:ext cx="12173344" cy="5217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1) O que é “ambiência” em suinocultura (cria, recria e engorda)</a:t>
            </a:r>
          </a:p>
          <a:p>
            <a:pPr algn="just">
              <a:lnSpc>
                <a:spcPct val="150000"/>
              </a:lnSpc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Ambiência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é o conjunto de condições do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microclima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e do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ambiente físico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onde o suíno vive (maternidade, creche, recria, terminação, gestação), que determinam se o animal consegue manter:</a:t>
            </a:r>
          </a:p>
          <a:p>
            <a:pPr marL="342900" indent="-342900" algn="just">
              <a:lnSpc>
                <a:spcPct val="150000"/>
              </a:lnSpc>
              <a:buAutoNum type="alphaLcParenR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Equilíbrio térmico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(não passar frio nem calor);</a:t>
            </a:r>
          </a:p>
          <a:p>
            <a:pPr marL="342900" indent="-342900" algn="just">
              <a:lnSpc>
                <a:spcPct val="150000"/>
              </a:lnSpc>
              <a:buAutoNum type="alphaLcParenR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Bem-estar comportamental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(comer, dormir, explorar, sem estresse);</a:t>
            </a:r>
          </a:p>
          <a:p>
            <a:pPr marL="342900" indent="-342900" algn="just">
              <a:lnSpc>
                <a:spcPct val="150000"/>
              </a:lnSpc>
              <a:buAutoNum type="alphaLcParenR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Sanidade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(menos diarreia, pneumonia, lesões, mortalidade);</a:t>
            </a:r>
          </a:p>
          <a:p>
            <a:pPr marL="342900" indent="-342900" algn="just">
              <a:lnSpc>
                <a:spcPct val="150000"/>
              </a:lnSpc>
              <a:buAutoNum type="alphaLcParenR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Desempenho produtivo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(ganho de peso, conversão, consumo, reprodução).</a:t>
            </a:r>
          </a:p>
          <a:p>
            <a:pPr algn="just">
              <a:lnSpc>
                <a:spcPct val="150000"/>
              </a:lnSpc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📌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Em outras palavras: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✅ ambiência boa = suíno usa energia para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crescer, produzir e reproduzir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❌ ambiência ruim = suíno usa energia para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sobreviver ao ambiente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A ambiência em suínos é sustentada por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4 pilares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Clima do ambiente: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temperatura, umidade, ventilação, radiação, correntes de ar.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Qualidade do ar: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poeira, gases (NH₃, CO₂, H₂S), microrganismos e odores.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Conforto físico: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piso, cama (quando existir), espaço, área seca, água e alimento.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Manejo e biosseguridade: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rotina, limpeza, vazio sanitário, lotes, manejo de estresse.</a:t>
            </a:r>
          </a:p>
        </p:txBody>
      </p:sp>
    </p:spTree>
    <p:extLst>
      <p:ext uri="{BB962C8B-B14F-4D97-AF65-F5344CB8AC3E}">
        <p14:creationId xmlns:p14="http://schemas.microsoft.com/office/powerpoint/2010/main" val="335168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alendário&#10;&#10;O conteúdo gerado por IA pode estar incorreto.">
            <a:extLst>
              <a:ext uri="{FF2B5EF4-FFF2-40B4-BE49-F238E27FC236}">
                <a16:creationId xmlns:a16="http://schemas.microsoft.com/office/drawing/2014/main" id="{07406EB3-32FF-893F-32A8-B114B58CD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83" y="0"/>
            <a:ext cx="10293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093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1C889B2-14DC-8DD5-BB00-B12D8CBFF587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Aviários de Postura e Corte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79FCC95-B885-873E-9603-D3F534BE4439}"/>
              </a:ext>
            </a:extLst>
          </p:cNvPr>
          <p:cNvSpPr txBox="1"/>
          <p:nvPr/>
        </p:nvSpPr>
        <p:spPr>
          <a:xfrm>
            <a:off x="-10884" y="720994"/>
            <a:ext cx="12202884" cy="541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55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2) Fisiologia térmica dos suínos (como lidam com calor e frio)</a:t>
            </a:r>
          </a:p>
          <a:p>
            <a:pPr algn="just">
              <a:lnSpc>
                <a:spcPct val="150000"/>
              </a:lnSpc>
            </a:pPr>
            <a:r>
              <a:rPr lang="pt-BR" sz="1550" dirty="0">
                <a:latin typeface="Arial" panose="020B0604020202020204" pitchFamily="34" charset="0"/>
                <a:cs typeface="Arial" panose="020B0604020202020204" pitchFamily="34" charset="0"/>
              </a:rPr>
              <a:t>Os suínos são </a:t>
            </a:r>
            <a:r>
              <a:rPr lang="pt-BR" sz="1550" b="1" dirty="0">
                <a:latin typeface="Arial" panose="020B0604020202020204" pitchFamily="34" charset="0"/>
                <a:cs typeface="Arial" panose="020B0604020202020204" pitchFamily="34" charset="0"/>
              </a:rPr>
              <a:t>homeotérmicos</a:t>
            </a:r>
            <a:r>
              <a:rPr lang="pt-BR" sz="1550" dirty="0">
                <a:latin typeface="Arial" panose="020B0604020202020204" pitchFamily="34" charset="0"/>
                <a:cs typeface="Arial" panose="020B0604020202020204" pitchFamily="34" charset="0"/>
              </a:rPr>
              <a:t>, mas têm </a:t>
            </a:r>
            <a:r>
              <a:rPr lang="pt-BR" sz="1550" b="1" dirty="0">
                <a:latin typeface="Arial" panose="020B0604020202020204" pitchFamily="34" charset="0"/>
                <a:cs typeface="Arial" panose="020B0604020202020204" pitchFamily="34" charset="0"/>
              </a:rPr>
              <a:t>baixa eficiência para perder calor</a:t>
            </a:r>
            <a:r>
              <a:rPr lang="pt-BR" sz="1550" dirty="0">
                <a:latin typeface="Arial" panose="020B0604020202020204" pitchFamily="34" charset="0"/>
                <a:cs typeface="Arial" panose="020B0604020202020204" pitchFamily="34" charset="0"/>
              </a:rPr>
              <a:t>, porque: </a:t>
            </a:r>
            <a:r>
              <a:rPr lang="pt-BR" sz="1550" b="1" dirty="0">
                <a:latin typeface="Arial" panose="020B0604020202020204" pitchFamily="34" charset="0"/>
                <a:cs typeface="Arial" panose="020B0604020202020204" pitchFamily="34" charset="0"/>
              </a:rPr>
              <a:t>quase não suam e </a:t>
            </a:r>
            <a:r>
              <a:rPr lang="pt-BR" sz="1550" dirty="0">
                <a:latin typeface="Arial" panose="020B0604020202020204" pitchFamily="34" charset="0"/>
                <a:cs typeface="Arial" panose="020B0604020202020204" pitchFamily="34" charset="0"/>
              </a:rPr>
              <a:t>dependem muito da </a:t>
            </a:r>
            <a:r>
              <a:rPr lang="pt-BR" sz="1550" b="1" dirty="0">
                <a:latin typeface="Arial" panose="020B0604020202020204" pitchFamily="34" charset="0"/>
                <a:cs typeface="Arial" panose="020B0604020202020204" pitchFamily="34" charset="0"/>
              </a:rPr>
              <a:t>respiração</a:t>
            </a:r>
            <a:r>
              <a:rPr lang="pt-BR" sz="1550" dirty="0">
                <a:latin typeface="Arial" panose="020B0604020202020204" pitchFamily="34" charset="0"/>
                <a:cs typeface="Arial" panose="020B0604020202020204" pitchFamily="34" charset="0"/>
              </a:rPr>
              <a:t> e do </a:t>
            </a:r>
            <a:r>
              <a:rPr lang="pt-BR" sz="1550" b="1" dirty="0">
                <a:latin typeface="Arial" panose="020B0604020202020204" pitchFamily="34" charset="0"/>
                <a:cs typeface="Arial" panose="020B0604020202020204" pitchFamily="34" charset="0"/>
              </a:rPr>
              <a:t>ambiente (ventilação e piso).</a:t>
            </a:r>
            <a:endParaRPr lang="pt-BR" sz="15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5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Eles têm uma faixa ótima chamada zona de neutralidade térmica.</a:t>
            </a:r>
          </a:p>
          <a:p>
            <a:pPr algn="just">
              <a:lnSpc>
                <a:spcPct val="150000"/>
              </a:lnSpc>
            </a:pPr>
            <a:r>
              <a:rPr lang="pt-BR" sz="1550" dirty="0">
                <a:latin typeface="Arial" panose="020B0604020202020204" pitchFamily="34" charset="0"/>
                <a:cs typeface="Arial" panose="020B0604020202020204" pitchFamily="34" charset="0"/>
              </a:rPr>
              <a:t>Fora dela → entram em </a:t>
            </a:r>
            <a:r>
              <a:rPr lang="pt-BR" sz="1550" b="1" dirty="0">
                <a:latin typeface="Arial" panose="020B0604020202020204" pitchFamily="34" charset="0"/>
                <a:cs typeface="Arial" panose="020B0604020202020204" pitchFamily="34" charset="0"/>
              </a:rPr>
              <a:t>estresse térmico</a:t>
            </a:r>
            <a:r>
              <a:rPr lang="pt-BR" sz="1550" dirty="0">
                <a:latin typeface="Arial" panose="020B0604020202020204" pitchFamily="34" charset="0"/>
                <a:cs typeface="Arial" panose="020B0604020202020204" pitchFamily="34" charset="0"/>
              </a:rPr>
              <a:t> (calor ou frio).</a:t>
            </a:r>
          </a:p>
          <a:p>
            <a:pPr algn="just">
              <a:lnSpc>
                <a:spcPct val="150000"/>
              </a:lnSpc>
            </a:pPr>
            <a:r>
              <a:rPr lang="pt-BR" sz="1550" b="1" dirty="0">
                <a:latin typeface="Arial" panose="020B0604020202020204" pitchFamily="34" charset="0"/>
                <a:cs typeface="Arial" panose="020B0604020202020204" pitchFamily="34" charset="0"/>
              </a:rPr>
              <a:t>Como o suíno perde calor: Convecção:</a:t>
            </a:r>
            <a:r>
              <a:rPr lang="pt-BR" sz="1550" dirty="0">
                <a:latin typeface="Arial" panose="020B0604020202020204" pitchFamily="34" charset="0"/>
                <a:cs typeface="Arial" panose="020B0604020202020204" pitchFamily="34" charset="0"/>
              </a:rPr>
              <a:t> vento/ventilação removendo calor do corpo. </a:t>
            </a:r>
            <a:r>
              <a:rPr lang="pt-BR" sz="1550" b="1" dirty="0">
                <a:latin typeface="Arial" panose="020B0604020202020204" pitchFamily="34" charset="0"/>
                <a:cs typeface="Arial" panose="020B0604020202020204" pitchFamily="34" charset="0"/>
              </a:rPr>
              <a:t>Radiação:</a:t>
            </a:r>
            <a:r>
              <a:rPr lang="pt-BR" sz="1550" dirty="0">
                <a:latin typeface="Arial" panose="020B0604020202020204" pitchFamily="34" charset="0"/>
                <a:cs typeface="Arial" panose="020B0604020202020204" pitchFamily="34" charset="0"/>
              </a:rPr>
              <a:t> troca com superfícies e ambiente. </a:t>
            </a:r>
            <a:r>
              <a:rPr lang="pt-BR" sz="1550" b="1" dirty="0">
                <a:latin typeface="Arial" panose="020B0604020202020204" pitchFamily="34" charset="0"/>
                <a:cs typeface="Arial" panose="020B0604020202020204" pitchFamily="34" charset="0"/>
              </a:rPr>
              <a:t>Condução:</a:t>
            </a:r>
            <a:r>
              <a:rPr lang="pt-BR" sz="1550" dirty="0">
                <a:latin typeface="Arial" panose="020B0604020202020204" pitchFamily="34" charset="0"/>
                <a:cs typeface="Arial" panose="020B0604020202020204" pitchFamily="34" charset="0"/>
              </a:rPr>
              <a:t> contato com o piso (muito importante!). </a:t>
            </a:r>
            <a:r>
              <a:rPr lang="pt-BR" sz="1550" b="1" dirty="0">
                <a:latin typeface="Arial" panose="020B0604020202020204" pitchFamily="34" charset="0"/>
                <a:cs typeface="Arial" panose="020B0604020202020204" pitchFamily="34" charset="0"/>
              </a:rPr>
              <a:t>Evaporação:</a:t>
            </a:r>
            <a:r>
              <a:rPr lang="pt-BR" sz="1550" dirty="0">
                <a:latin typeface="Arial" panose="020B0604020202020204" pitchFamily="34" charset="0"/>
                <a:cs typeface="Arial" panose="020B0604020202020204" pitchFamily="34" charset="0"/>
              </a:rPr>
              <a:t> respiração (principal no calor).</a:t>
            </a:r>
          </a:p>
          <a:p>
            <a:pPr algn="just">
              <a:lnSpc>
                <a:spcPct val="150000"/>
              </a:lnSpc>
            </a:pPr>
            <a:r>
              <a:rPr lang="pt-BR" sz="1550" b="1" dirty="0">
                <a:latin typeface="Arial" panose="020B0604020202020204" pitchFamily="34" charset="0"/>
                <a:cs typeface="Arial" panose="020B0604020202020204" pitchFamily="34" charset="0"/>
              </a:rPr>
              <a:t>O que acontece no calor (estresse por calor): </a:t>
            </a:r>
            <a:r>
              <a:rPr lang="pt-BR" sz="1550" dirty="0">
                <a:latin typeface="Arial" panose="020B0604020202020204" pitchFamily="34" charset="0"/>
                <a:cs typeface="Arial" panose="020B0604020202020204" pitchFamily="34" charset="0"/>
              </a:rPr>
              <a:t>consumo de ração ↓, ganho de peso ↓, conversão alimentar piora, respiração ↑ (ofegante), aumento da temperatura corporal, queda de imunidade e piora reprodutiva (cio irregular, menor fertilidade, menor leitegada).</a:t>
            </a:r>
          </a:p>
          <a:p>
            <a:pPr algn="just">
              <a:lnSpc>
                <a:spcPct val="150000"/>
              </a:lnSpc>
            </a:pPr>
            <a:r>
              <a:rPr lang="pt-BR" sz="1550" b="1" dirty="0">
                <a:latin typeface="Arial" panose="020B0604020202020204" pitchFamily="34" charset="0"/>
                <a:cs typeface="Arial" panose="020B0604020202020204" pitchFamily="34" charset="0"/>
              </a:rPr>
              <a:t>📌 Impacto prático: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550" b="1" dirty="0">
                <a:latin typeface="Arial" panose="020B0604020202020204" pitchFamily="34" charset="0"/>
                <a:cs typeface="Arial" panose="020B0604020202020204" pitchFamily="34" charset="0"/>
              </a:rPr>
              <a:t>matrizes:</a:t>
            </a:r>
            <a:r>
              <a:rPr lang="pt-BR" sz="1550" dirty="0">
                <a:latin typeface="Arial" panose="020B0604020202020204" pitchFamily="34" charset="0"/>
                <a:cs typeface="Arial" panose="020B0604020202020204" pitchFamily="34" charset="0"/>
              </a:rPr>
              <a:t> queda de consumo → menor produção de leite → leitão mais leve e mais mortalidade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550" b="1" dirty="0">
                <a:latin typeface="Arial" panose="020B0604020202020204" pitchFamily="34" charset="0"/>
                <a:cs typeface="Arial" panose="020B0604020202020204" pitchFamily="34" charset="0"/>
              </a:rPr>
              <a:t>creche/recria/engorda:</a:t>
            </a:r>
            <a:r>
              <a:rPr lang="pt-BR" sz="1550" dirty="0">
                <a:latin typeface="Arial" panose="020B0604020202020204" pitchFamily="34" charset="0"/>
                <a:cs typeface="Arial" panose="020B0604020202020204" pitchFamily="34" charset="0"/>
              </a:rPr>
              <a:t> pior desempenho e mais risco sanitário</a:t>
            </a:r>
          </a:p>
          <a:p>
            <a:pPr algn="just">
              <a:lnSpc>
                <a:spcPct val="150000"/>
              </a:lnSpc>
            </a:pPr>
            <a:r>
              <a:rPr lang="pt-BR" sz="1550" b="1" dirty="0">
                <a:latin typeface="Arial" panose="020B0604020202020204" pitchFamily="34" charset="0"/>
                <a:cs typeface="Arial" panose="020B0604020202020204" pitchFamily="34" charset="0"/>
              </a:rPr>
              <a:t>O que acontece no frio (principalmente em leitões): </a:t>
            </a:r>
            <a:r>
              <a:rPr lang="pt-BR" sz="1550" dirty="0">
                <a:latin typeface="Arial" panose="020B0604020202020204" pitchFamily="34" charset="0"/>
                <a:cs typeface="Arial" panose="020B0604020202020204" pitchFamily="34" charset="0"/>
              </a:rPr>
              <a:t>gasto energético ↑, tremores e amontoamento (sinal clássico), risco alto de </a:t>
            </a:r>
            <a:r>
              <a:rPr lang="pt-BR" sz="1550" b="1" dirty="0">
                <a:latin typeface="Arial" panose="020B0604020202020204" pitchFamily="34" charset="0"/>
                <a:cs typeface="Arial" panose="020B0604020202020204" pitchFamily="34" charset="0"/>
              </a:rPr>
              <a:t>hipotermia</a:t>
            </a:r>
            <a:r>
              <a:rPr lang="pt-BR" sz="1550" dirty="0">
                <a:latin typeface="Arial" panose="020B0604020202020204" pitchFamily="34" charset="0"/>
                <a:cs typeface="Arial" panose="020B0604020202020204" pitchFamily="34" charset="0"/>
              </a:rPr>
              <a:t> em recém-nascidos, maior predisposição a doenças e diarreias e pior ganho de peso (energia vai para aquecer o corpo).</a:t>
            </a:r>
          </a:p>
          <a:p>
            <a:pPr algn="just">
              <a:lnSpc>
                <a:spcPct val="150000"/>
              </a:lnSpc>
            </a:pPr>
            <a:r>
              <a:rPr lang="pt-BR" sz="155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📌 </a:t>
            </a:r>
            <a:r>
              <a:rPr lang="pt-BR" sz="155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Ponto-chave:</a:t>
            </a:r>
            <a:r>
              <a:rPr lang="pt-BR" sz="155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o frio é MUITO mais crítico para </a:t>
            </a:r>
            <a:r>
              <a:rPr lang="pt-BR" sz="155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leitões na maternidade e creche</a:t>
            </a:r>
            <a:r>
              <a:rPr lang="pt-BR" sz="155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do que para animais grandes.</a:t>
            </a:r>
          </a:p>
        </p:txBody>
      </p:sp>
    </p:spTree>
    <p:extLst>
      <p:ext uri="{BB962C8B-B14F-4D97-AF65-F5344CB8AC3E}">
        <p14:creationId xmlns:p14="http://schemas.microsoft.com/office/powerpoint/2010/main" val="361693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F215D8D-FA26-C6B4-4B91-FDC09E5E8FB5}"/>
              </a:ext>
            </a:extLst>
          </p:cNvPr>
          <p:cNvSpPr txBox="1"/>
          <p:nvPr/>
        </p:nvSpPr>
        <p:spPr>
          <a:xfrm>
            <a:off x="9328" y="652348"/>
            <a:ext cx="12182672" cy="5663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5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3) Temperatura, umidade e ventilação: o trio que manda no desempenho</a:t>
            </a:r>
            <a:endParaRPr lang="pt-BR" sz="135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35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3.1 Temperatura (T)</a:t>
            </a:r>
            <a:endParaRPr lang="pt-BR" sz="135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3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 objetivo é manter conforto e reduzir estresse térmico conforme a fase: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3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Maternidade:</a:t>
            </a:r>
            <a:r>
              <a:rPr lang="pt-BR" sz="13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leitão precisa muito calor, matriz não aguenta calor excessivo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3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Creche:</a:t>
            </a:r>
            <a:r>
              <a:rPr lang="pt-BR" sz="13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fase mais sensível (transição + imunidade baixa)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3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Recria/terminação:</a:t>
            </a:r>
            <a:r>
              <a:rPr lang="pt-BR" sz="13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calor derruba consumo e GPD</a:t>
            </a:r>
          </a:p>
          <a:p>
            <a:pPr algn="just">
              <a:lnSpc>
                <a:spcPct val="150000"/>
              </a:lnSpc>
            </a:pPr>
            <a:r>
              <a:rPr lang="pt-BR" sz="13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📌 Ponto forte para sala: ✅ quanto menor o suíno (leitão), mais ele sofre com </a:t>
            </a:r>
            <a:r>
              <a:rPr lang="pt-BR" sz="13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frio</a:t>
            </a:r>
            <a:r>
              <a:rPr lang="pt-BR" sz="135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sz="13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quanto maior o suíno (terminação/matriz), mais ele sofre com </a:t>
            </a:r>
            <a:r>
              <a:rPr lang="pt-BR" sz="13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calor</a:t>
            </a:r>
            <a:endParaRPr lang="pt-BR" sz="135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35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3.2 Umidade relativa (UR)</a:t>
            </a:r>
            <a:endParaRPr lang="pt-BR" sz="135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3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umidade muda totalmente o conforto:</a:t>
            </a:r>
          </a:p>
          <a:p>
            <a:pPr algn="just">
              <a:lnSpc>
                <a:spcPct val="150000"/>
              </a:lnSpc>
            </a:pPr>
            <a:r>
              <a:rPr lang="pt-BR" sz="13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a) </a:t>
            </a:r>
            <a:r>
              <a:rPr lang="pt-BR" sz="13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UR alta + calor = pior cenário</a:t>
            </a:r>
            <a:r>
              <a:rPr lang="pt-BR" sz="135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pt-BR" sz="13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suíno não consegue perder calor pela respiração, mais risco de doenças respiratórias e cama/piso úmido → maior contaminação.</a:t>
            </a:r>
          </a:p>
          <a:p>
            <a:pPr algn="just">
              <a:lnSpc>
                <a:spcPct val="150000"/>
              </a:lnSpc>
            </a:pPr>
            <a:r>
              <a:rPr lang="pt-BR" sz="13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b) </a:t>
            </a:r>
            <a:r>
              <a:rPr lang="pt-BR" sz="13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UR muito baixa</a:t>
            </a:r>
            <a:r>
              <a:rPr lang="pt-BR" sz="135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pt-BR" sz="13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aumenta poeira → piora respiratória (tosse, pneumonia, irritação)</a:t>
            </a:r>
          </a:p>
          <a:p>
            <a:pPr algn="just">
              <a:lnSpc>
                <a:spcPct val="150000"/>
              </a:lnSpc>
            </a:pPr>
            <a:r>
              <a:rPr lang="pt-BR" sz="135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3.3 Ventilação (o “motor invisível”)</a:t>
            </a:r>
            <a:endParaRPr lang="pt-BR" sz="135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3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ventilação tem 3 funções principais:</a:t>
            </a:r>
          </a:p>
          <a:p>
            <a:pPr marL="342900" indent="-342900" algn="just">
              <a:lnSpc>
                <a:spcPct val="150000"/>
              </a:lnSpc>
              <a:buAutoNum type="alphaLcParenR"/>
            </a:pPr>
            <a:r>
              <a:rPr lang="pt-BR" sz="13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remove calor (convecção);</a:t>
            </a:r>
          </a:p>
          <a:p>
            <a:pPr marL="342900" indent="-342900" algn="just">
              <a:lnSpc>
                <a:spcPct val="150000"/>
              </a:lnSpc>
              <a:buAutoNum type="alphaLcParenR"/>
            </a:pPr>
            <a:r>
              <a:rPr lang="pt-BR" sz="13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remove umidade do ambiente/piso;</a:t>
            </a:r>
            <a:endParaRPr lang="pt-BR" sz="1350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AutoNum type="alphaLcParenR"/>
            </a:pPr>
            <a:r>
              <a:rPr lang="pt-BR" sz="13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melhora a qualidade do ar (menos NH₃, poeira e microrganismos).</a:t>
            </a:r>
          </a:p>
          <a:p>
            <a:pPr algn="just">
              <a:lnSpc>
                <a:spcPct val="150000"/>
              </a:lnSpc>
            </a:pPr>
            <a:r>
              <a:rPr lang="pt-BR" sz="13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📌 Atenção: ventilação boa não é “vento batendo no leitão”. Corrente de ar em leitão = frio + estresse + pneumonia.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BE7C3FE-44EC-C66D-B212-83A2A2BE5643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Suínos cria recria engorda</a:t>
            </a:r>
          </a:p>
        </p:txBody>
      </p:sp>
    </p:spTree>
    <p:extLst>
      <p:ext uri="{BB962C8B-B14F-4D97-AF65-F5344CB8AC3E}">
        <p14:creationId xmlns:p14="http://schemas.microsoft.com/office/powerpoint/2010/main" val="3572985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C08290-307F-FD66-2F72-3310841026EA}"/>
              </a:ext>
            </a:extLst>
          </p:cNvPr>
          <p:cNvSpPr txBox="1"/>
          <p:nvPr/>
        </p:nvSpPr>
        <p:spPr>
          <a:xfrm>
            <a:off x="0" y="568844"/>
            <a:ext cx="12173344" cy="586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4) Qualidade do ar: o que derruba sanidade e desempenho</a:t>
            </a:r>
          </a:p>
          <a:p>
            <a:pPr algn="just">
              <a:lnSpc>
                <a:spcPct val="15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Em suinocultura intensiva, a qualidade do ar é decisiva, principalmente por causa de: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amônia (NH₃)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(fezes + urina)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poeira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(ração, pele, cama seca)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gases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(CO₂ e H₂S em situações críticas)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umidade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elevada</a:t>
            </a:r>
          </a:p>
          <a:p>
            <a:pPr algn="just">
              <a:lnSpc>
                <a:spcPct val="15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📌 Consequências: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irritação nas vias respiratórias;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maior predisposição a pneumonia;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pior conversão alimentar;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estresse e queda de consumo;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mais problemas oculares (lacrimejamento).</a:t>
            </a:r>
          </a:p>
          <a:p>
            <a:pPr algn="just">
              <a:lnSpc>
                <a:spcPct val="15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✅ Ambiência ruim frequentemente aumenta: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Tosse;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Espirros;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pneumonia enzoótica;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uso de antibióticos;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Mortalidade.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E196B08-25BE-5D53-C1C3-17660959BADB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Suínos cria recria engorda</a:t>
            </a:r>
          </a:p>
        </p:txBody>
      </p:sp>
    </p:spTree>
    <p:extLst>
      <p:ext uri="{BB962C8B-B14F-4D97-AF65-F5344CB8AC3E}">
        <p14:creationId xmlns:p14="http://schemas.microsoft.com/office/powerpoint/2010/main" val="1527990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B326B6B-40B8-811C-2F4A-A6A70CB5C20D}"/>
              </a:ext>
            </a:extLst>
          </p:cNvPr>
          <p:cNvSpPr txBox="1"/>
          <p:nvPr/>
        </p:nvSpPr>
        <p:spPr>
          <a:xfrm>
            <a:off x="-10884" y="628884"/>
            <a:ext cx="12182672" cy="5546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5) Piso, umidade e higiene: base do conforto e sanidade (engenharia sanitária)</a:t>
            </a:r>
          </a:p>
          <a:p>
            <a:pPr algn="just">
              <a:lnSpc>
                <a:spcPct val="15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Em suínos isso é 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essencial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, porque o piso interfere diretamente em: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conforto térmico (principalmente por condução);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risco de lesões (pata e casco);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risco sanitário (diarreias e contaminação).</a:t>
            </a:r>
          </a:p>
          <a:p>
            <a:pPr algn="just">
              <a:lnSpc>
                <a:spcPct val="150000"/>
              </a:lnSpc>
            </a:pPr>
            <a:r>
              <a:rPr lang="pt-B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Piso seco e limpo melhora:</a:t>
            </a:r>
          </a:p>
          <a:p>
            <a:pPr algn="just">
              <a:lnSpc>
                <a:spcPct val="15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✅ conforto</a:t>
            </a:r>
          </a:p>
          <a:p>
            <a:pPr algn="just">
              <a:lnSpc>
                <a:spcPct val="15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✅ desempenho</a:t>
            </a:r>
          </a:p>
          <a:p>
            <a:pPr algn="just">
              <a:lnSpc>
                <a:spcPct val="15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✅ menor incidência de diarreia na creche</a:t>
            </a:r>
          </a:p>
          <a:p>
            <a:pPr algn="just">
              <a:lnSpc>
                <a:spcPct val="15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✅ menor risco respiratório (menos gases e umidade)</a:t>
            </a:r>
          </a:p>
          <a:p>
            <a:pPr algn="just">
              <a:lnSpc>
                <a:spcPct val="150000"/>
              </a:lnSpc>
            </a:pPr>
            <a:r>
              <a:rPr lang="pt-B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Piso úmido/sujo aumenta:</a:t>
            </a:r>
          </a:p>
          <a:p>
            <a:pPr algn="just">
              <a:lnSpc>
                <a:spcPct val="15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❌ amônia</a:t>
            </a:r>
          </a:p>
          <a:p>
            <a:pPr algn="just">
              <a:lnSpc>
                <a:spcPct val="15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❌ lesões e queimaduras de pele</a:t>
            </a:r>
          </a:p>
          <a:p>
            <a:pPr algn="just">
              <a:lnSpc>
                <a:spcPct val="15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❌ diarreias pós-desmame</a:t>
            </a:r>
          </a:p>
          <a:p>
            <a:pPr algn="just">
              <a:lnSpc>
                <a:spcPct val="15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❌ contaminação ambiental</a:t>
            </a:r>
          </a:p>
          <a:p>
            <a:pPr algn="just">
              <a:lnSpc>
                <a:spcPct val="15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❌ mortalidade</a:t>
            </a:r>
          </a:p>
          <a:p>
            <a:pPr algn="just">
              <a:lnSpc>
                <a:spcPct val="150000"/>
              </a:lnSpc>
            </a:pPr>
            <a:r>
              <a:rPr lang="pt-B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📌 Na maternidade: o leitão precisa de área seca e quente, ou ele perde energia muito rápido.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F316D83-82F4-6C17-30EA-5FE9F844962A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Suínos cria recria engorda</a:t>
            </a:r>
          </a:p>
        </p:txBody>
      </p:sp>
    </p:spTree>
    <p:extLst>
      <p:ext uri="{BB962C8B-B14F-4D97-AF65-F5344CB8AC3E}">
        <p14:creationId xmlns:p14="http://schemas.microsoft.com/office/powerpoint/2010/main" val="3124558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2663498" y="6308703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EFBB5CF-32F1-4E1E-1C44-C8F98C8135F4}"/>
              </a:ext>
            </a:extLst>
          </p:cNvPr>
          <p:cNvSpPr txBox="1"/>
          <p:nvPr/>
        </p:nvSpPr>
        <p:spPr>
          <a:xfrm>
            <a:off x="0" y="851564"/>
            <a:ext cx="7697755" cy="544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6) Densidade animal: produtividade por área </a:t>
            </a:r>
            <a:r>
              <a:rPr lang="pt-BR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risco ambiental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Densidade elevada piora tudo: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calor metabólico coletivo ↑;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umidade e esterco ↑;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competição por espaço e comedouro ↑;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briga e estresse social ↑;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risco de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caudofagia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↑.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Creche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Espaço insuficiente = estresse + maior diarreia + pior ganho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Engorda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maior competição e mais calor;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pior conversão alimentar;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mais agressões e lesões.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279E322-3737-40B9-5393-050FE80BC207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Suínos cria recria engorda</a:t>
            </a:r>
          </a:p>
        </p:txBody>
      </p:sp>
      <p:pic>
        <p:nvPicPr>
          <p:cNvPr id="9" name="Imagem 8" descr="Texto, Calendário&#10;&#10;O conteúdo gerado por IA pode estar incorreto.">
            <a:extLst>
              <a:ext uri="{FF2B5EF4-FFF2-40B4-BE49-F238E27FC236}">
                <a16:creationId xmlns:a16="http://schemas.microsoft.com/office/drawing/2014/main" id="{4F7C6899-5052-16FA-F4B2-930AD253B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8421" y="707150"/>
            <a:ext cx="4052571" cy="60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588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2632613" y="6278406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8BFA188-13D9-E9CA-E0D5-5481CB16028F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Suínos cria recria engorda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06CF786-778D-9583-1591-91539C84DA84}"/>
              </a:ext>
            </a:extLst>
          </p:cNvPr>
          <p:cNvSpPr txBox="1"/>
          <p:nvPr/>
        </p:nvSpPr>
        <p:spPr>
          <a:xfrm>
            <a:off x="0" y="779881"/>
            <a:ext cx="8725676" cy="5442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7) Iluminação e rotina: comportamento, stress e consumo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suínos, luz e rotina influenciam muito: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atividade e descanso;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comportamento social;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consumo de ração;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facilidade de manejo.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📌 Rotina instável = estresse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Exemplos: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trato irregular;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mudanças bruscas de lote;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barulho excessivo;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manejo agressivo;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Ambiência + manejo calmo = menos brigas e melhor desempenho</a:t>
            </a:r>
          </a:p>
        </p:txBody>
      </p:sp>
      <p:pic>
        <p:nvPicPr>
          <p:cNvPr id="11" name="Imagem 10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761E3F22-3D1A-A443-1FC8-AB175EC46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744" y="707886"/>
            <a:ext cx="4052079" cy="607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16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E1FA1B2-950C-C59D-E25B-94C45E9E9824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Suínos cria recria engorda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193B72E1-4CB9-0D50-C913-6B5562B82CB3}"/>
              </a:ext>
            </a:extLst>
          </p:cNvPr>
          <p:cNvCxnSpPr>
            <a:cxnSpLocks/>
          </p:cNvCxnSpPr>
          <p:nvPr/>
        </p:nvCxnSpPr>
        <p:spPr>
          <a:xfrm>
            <a:off x="3704254" y="1561497"/>
            <a:ext cx="0" cy="4585679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D9F64E7-560C-BBA4-3151-A06351E9E34E}"/>
              </a:ext>
            </a:extLst>
          </p:cNvPr>
          <p:cNvSpPr txBox="1"/>
          <p:nvPr/>
        </p:nvSpPr>
        <p:spPr>
          <a:xfrm>
            <a:off x="-2" y="1588858"/>
            <a:ext cx="3704256" cy="4109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🐷 Cria (maternidade)</a:t>
            </a:r>
            <a:endParaRPr lang="pt-BR" sz="1600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6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Objetivo:</a:t>
            </a: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leitões vivos, aquecidos, </a:t>
            </a:r>
            <a:r>
              <a:rPr lang="pt-BR" sz="16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colostrados</a:t>
            </a: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pesados ao desmame</a:t>
            </a:r>
            <a:b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Ambiência crítica em: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aquecimento do leitão (principal);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conforto térmico da matriz (evitar calor);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prevenção de esmagamento;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higiene e secura do ambiente.</a:t>
            </a:r>
          </a:p>
          <a:p>
            <a:pPr algn="just">
              <a:lnSpc>
                <a:spcPct val="150000"/>
              </a:lnSpc>
            </a:pPr>
            <a:r>
              <a:rPr lang="pt-BR" sz="16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indicadores: mortalidade, peso ao desmame, uniformidade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EE43336A-4B02-BD24-C0D6-3F57906F800E}"/>
              </a:ext>
            </a:extLst>
          </p:cNvPr>
          <p:cNvCxnSpPr>
            <a:cxnSpLocks/>
          </p:cNvCxnSpPr>
          <p:nvPr/>
        </p:nvCxnSpPr>
        <p:spPr>
          <a:xfrm>
            <a:off x="7658879" y="1588858"/>
            <a:ext cx="0" cy="4585679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1EBC86D-3218-E368-49DA-DF3424BCA2A0}"/>
              </a:ext>
            </a:extLst>
          </p:cNvPr>
          <p:cNvSpPr txBox="1"/>
          <p:nvPr/>
        </p:nvSpPr>
        <p:spPr>
          <a:xfrm>
            <a:off x="3760238" y="1588858"/>
            <a:ext cx="3929743" cy="4478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🐖 Recria (creche)</a:t>
            </a:r>
            <a:endParaRPr lang="pt-BR" sz="1600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6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Objetivo:</a:t>
            </a: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adaptação pós-desmame com alto ganho e baixa diarreia</a:t>
            </a:r>
          </a:p>
          <a:p>
            <a:pPr algn="just">
              <a:lnSpc>
                <a:spcPct val="150000"/>
              </a:lnSpc>
            </a:pP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Ambiência crítica em: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temperatura estável (sem corrente de ar);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qualidade do ar;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densidade e acesso ao comedouro/bebedouro.</a:t>
            </a:r>
          </a:p>
          <a:p>
            <a:pPr algn="just">
              <a:lnSpc>
                <a:spcPct val="150000"/>
              </a:lnSpc>
            </a:pPr>
            <a:r>
              <a:rPr lang="pt-BR" sz="16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indicadores: diarreia pós-desmame, ganho diário, mortalidade, consumo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971AA86-98E3-2D91-609D-C8E7B996B8DF}"/>
              </a:ext>
            </a:extLst>
          </p:cNvPr>
          <p:cNvSpPr txBox="1"/>
          <p:nvPr/>
        </p:nvSpPr>
        <p:spPr>
          <a:xfrm>
            <a:off x="7658879" y="1588858"/>
            <a:ext cx="4533121" cy="361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sz="16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🐗 Engorda (terminação)</a:t>
            </a:r>
            <a:endParaRPr lang="pt-BR" sz="1600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sz="16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Objetivo:</a:t>
            </a: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ganho de peso, conversão alimentar e baixa mortalidade até o abate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Ambiência crítica em: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estresse por calor;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ventilação e gases;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densidade (brigas e desempenho);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piso e higiene.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sz="16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indicadores: GPD, CA, uniformidade, lesões e condenações no frigorífico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F9C473B-F839-1B17-6297-678932CFA3A1}"/>
              </a:ext>
            </a:extLst>
          </p:cNvPr>
          <p:cNvSpPr txBox="1"/>
          <p:nvPr/>
        </p:nvSpPr>
        <p:spPr>
          <a:xfrm>
            <a:off x="-2" y="848838"/>
            <a:ext cx="12192002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pt-BR" sz="18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8) Diferenças práticas: cria x recria x engorda</a:t>
            </a:r>
            <a:endParaRPr lang="pt-BR" sz="180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367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8F967F6-4467-B342-AA39-0386F12A3B57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Suínos cria recria engorda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1BD830D-6E52-0F7C-D136-77E92FE10A2B}"/>
              </a:ext>
            </a:extLst>
          </p:cNvPr>
          <p:cNvCxnSpPr>
            <a:cxnSpLocks/>
          </p:cNvCxnSpPr>
          <p:nvPr/>
        </p:nvCxnSpPr>
        <p:spPr>
          <a:xfrm>
            <a:off x="3704254" y="1561497"/>
            <a:ext cx="20211" cy="4046201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8C4A14A-4826-2B72-FF4B-257C41E9E8A2}"/>
              </a:ext>
            </a:extLst>
          </p:cNvPr>
          <p:cNvCxnSpPr>
            <a:cxnSpLocks/>
          </p:cNvCxnSpPr>
          <p:nvPr/>
        </p:nvCxnSpPr>
        <p:spPr>
          <a:xfrm>
            <a:off x="7658879" y="1588858"/>
            <a:ext cx="0" cy="3972187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976F0516-889F-53A9-C981-2E3877E19B45}"/>
              </a:ext>
            </a:extLst>
          </p:cNvPr>
          <p:cNvSpPr txBox="1"/>
          <p:nvPr/>
        </p:nvSpPr>
        <p:spPr>
          <a:xfrm>
            <a:off x="9328" y="661132"/>
            <a:ext cx="1218267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1800" b="1" dirty="0">
                <a:solidFill>
                  <a:srgbClr val="333333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9) Ferramentas de manejo ambiental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B3C8CF2-D4E1-A305-931B-A328C730C06A}"/>
              </a:ext>
            </a:extLst>
          </p:cNvPr>
          <p:cNvSpPr txBox="1"/>
          <p:nvPr/>
        </p:nvSpPr>
        <p:spPr>
          <a:xfrm>
            <a:off x="0" y="2045086"/>
            <a:ext cx="3715137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 maternidade</a:t>
            </a:r>
          </a:p>
          <a:p>
            <a:pPr>
              <a:lnSpc>
                <a:spcPct val="150000"/>
              </a:lnSpc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a) escamoteador bem regulado;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b) piso seco + aquecimento localizado;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c) manejo de ventilação sem corrente de ar;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d) cortinas/lonas bem ajustadas;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e) aquecimento + conforto da matriz (equilíbrio).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14438A7-D388-CAFC-A05D-9D1F03979772}"/>
              </a:ext>
            </a:extLst>
          </p:cNvPr>
          <p:cNvSpPr txBox="1"/>
          <p:nvPr/>
        </p:nvSpPr>
        <p:spPr>
          <a:xfrm>
            <a:off x="3704254" y="1972706"/>
            <a:ext cx="3934415" cy="3001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 creche</a:t>
            </a:r>
          </a:p>
          <a:p>
            <a:pPr>
              <a:lnSpc>
                <a:spcPct val="150000"/>
              </a:lnSpc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a) controle rigoroso de temperatura;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b) ventilação mínima (para ar bom sem resfriar demais);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c) controle de umidade;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d) redução de gases e poeira;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e) comedouros e bebedouros suficientes e bem posicionados.</a:t>
            </a:r>
            <a:endParaRPr lang="pt-BR" sz="16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CCA15A9-7D5D-5D3A-F03B-17B9618D4521}"/>
              </a:ext>
            </a:extLst>
          </p:cNvPr>
          <p:cNvSpPr txBox="1"/>
          <p:nvPr/>
        </p:nvSpPr>
        <p:spPr>
          <a:xfrm>
            <a:off x="7624679" y="2077139"/>
            <a:ext cx="4503583" cy="2632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 recria/engorda</a:t>
            </a:r>
          </a:p>
          <a:p>
            <a:pPr>
              <a:lnSpc>
                <a:spcPct val="150000"/>
              </a:lnSpc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a) ventilação eficiente (natural ou mecânica);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b) resfriamento no calor (nebulização/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cooling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quando aplicável);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c) manejo de densidade;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d) manejo de dejetos e piso seco;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e) água de qualidade e vazão adequada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42B0514-B560-7761-3501-840397BBFB0E}"/>
              </a:ext>
            </a:extLst>
          </p:cNvPr>
          <p:cNvSpPr txBox="1"/>
          <p:nvPr/>
        </p:nvSpPr>
        <p:spPr>
          <a:xfrm>
            <a:off x="9328" y="5668615"/>
            <a:ext cx="12216880" cy="45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📌 Estratégia prática importante: no calor: favorecer consumo em horários mais frescos (manhã/noite)</a:t>
            </a:r>
            <a:endParaRPr lang="pt-BR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435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8ED51B9-506F-E037-9050-AD24ADE3F6D9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Suínos cria recria engorda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288783C-743E-A0C2-5CE6-199B77871423}"/>
              </a:ext>
            </a:extLst>
          </p:cNvPr>
          <p:cNvSpPr txBox="1"/>
          <p:nvPr/>
        </p:nvSpPr>
        <p:spPr>
          <a:xfrm>
            <a:off x="9328" y="707886"/>
            <a:ext cx="12173344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pt-BR" sz="18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10) O que medir e acompanhar (visão de Engenharia + produção)</a:t>
            </a:r>
            <a:endParaRPr lang="pt-BR" sz="180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7192C4F-C848-9792-B0C1-FF227A19955B}"/>
              </a:ext>
            </a:extLst>
          </p:cNvPr>
          <p:cNvCxnSpPr>
            <a:cxnSpLocks/>
          </p:cNvCxnSpPr>
          <p:nvPr/>
        </p:nvCxnSpPr>
        <p:spPr>
          <a:xfrm>
            <a:off x="6176866" y="1287624"/>
            <a:ext cx="0" cy="5010539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69E2448-DBBD-CE46-6E12-E860EDBCFE23}"/>
              </a:ext>
            </a:extLst>
          </p:cNvPr>
          <p:cNvSpPr txBox="1"/>
          <p:nvPr/>
        </p:nvSpPr>
        <p:spPr>
          <a:xfrm>
            <a:off x="0" y="1744884"/>
            <a:ext cx="6176865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Ambiente</a:t>
            </a:r>
            <a:endParaRPr lang="pt-BR" sz="1800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temperatura e umidade (THI ou índice térmico adaptado);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velocidade do ar / ventilação;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gases (principalmente NH₃);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Poeira;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condição do piso (seco x úmido);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qualidade de água (temperatura, vazão, limpeza).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8248979-9EF7-A677-30CA-E32C189BB0FB}"/>
              </a:ext>
            </a:extLst>
          </p:cNvPr>
          <p:cNvSpPr txBox="1"/>
          <p:nvPr/>
        </p:nvSpPr>
        <p:spPr>
          <a:xfrm>
            <a:off x="6176865" y="1472007"/>
            <a:ext cx="6015136" cy="4606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Animal (sinais)</a:t>
            </a:r>
            <a:endParaRPr lang="pt-BR" sz="1800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calor: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respiração ofegante;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animal espalhado no piso;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procura por água;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letargia e queda de consumo</a:t>
            </a:r>
            <a:r>
              <a:rPr lang="pt-BR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pt-BR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frio: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Amontoamento;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Tremores;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leitões gelados;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menor consumo e maior mortalidade.</a:t>
            </a:r>
          </a:p>
        </p:txBody>
      </p:sp>
    </p:spTree>
    <p:extLst>
      <p:ext uri="{BB962C8B-B14F-4D97-AF65-F5344CB8AC3E}">
        <p14:creationId xmlns:p14="http://schemas.microsoft.com/office/powerpoint/2010/main" val="897615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2612567" y="6234401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8ED51B9-506F-E037-9050-AD24ADE3F6D9}"/>
              </a:ext>
            </a:extLst>
          </p:cNvPr>
          <p:cNvSpPr/>
          <p:nvPr/>
        </p:nvSpPr>
        <p:spPr>
          <a:xfrm>
            <a:off x="0" y="0"/>
            <a:ext cx="121826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Ambiência Rural x Suínos cria recria engorda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D595E46-DE56-614B-73BE-08FEB7CD6E70}"/>
              </a:ext>
            </a:extLst>
          </p:cNvPr>
          <p:cNvSpPr txBox="1"/>
          <p:nvPr/>
        </p:nvSpPr>
        <p:spPr>
          <a:xfrm>
            <a:off x="9328" y="707886"/>
            <a:ext cx="12173344" cy="392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pt-BR" sz="18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10) O que medir e acompanhar </a:t>
            </a:r>
            <a:r>
              <a:rPr lang="pt-BR" sz="18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pt-BR" sz="18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Indicadores de desempenho</a:t>
            </a:r>
            <a:endParaRPr lang="pt-BR" sz="180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5435115-B023-EAC6-0A34-1E70D23CFC15}"/>
              </a:ext>
            </a:extLst>
          </p:cNvPr>
          <p:cNvSpPr txBox="1"/>
          <p:nvPr/>
        </p:nvSpPr>
        <p:spPr>
          <a:xfrm>
            <a:off x="205083" y="1392481"/>
            <a:ext cx="3704252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Cria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natimortos e mortalidade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pré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-desmame;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peso ao desmame;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uniformidade da leitegada;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0302522-8440-014E-C484-19E54C92640B}"/>
              </a:ext>
            </a:extLst>
          </p:cNvPr>
          <p:cNvSpPr txBox="1"/>
          <p:nvPr/>
        </p:nvSpPr>
        <p:spPr>
          <a:xfrm>
            <a:off x="168539" y="3852512"/>
            <a:ext cx="3954624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8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Creche / Recria</a:t>
            </a:r>
            <a:endParaRPr lang="pt-BR" sz="18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diarreia pós-desmame;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Mortalidade;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GPD e consumo;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conversão alimentar.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88C39EC-63E7-D5CA-8283-B32C6F1F01AE}"/>
              </a:ext>
            </a:extLst>
          </p:cNvPr>
          <p:cNvSpPr txBox="1"/>
          <p:nvPr/>
        </p:nvSpPr>
        <p:spPr>
          <a:xfrm>
            <a:off x="4190999" y="2734618"/>
            <a:ext cx="3954624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8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Engorda</a:t>
            </a:r>
            <a:endParaRPr lang="pt-BR" sz="18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ganho médio diário (GPD);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conversão alimentar (CA);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mortalidade e refugo;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+mj-lt"/>
              <a:buAutoNum type="alphaLcParenR"/>
              <a:tabLst>
                <a:tab pos="4572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lesões e condenações no abate.</a:t>
            </a:r>
          </a:p>
        </p:txBody>
      </p:sp>
      <p:pic>
        <p:nvPicPr>
          <p:cNvPr id="18" name="Imagem 17" descr="Uma imagem contendo lata&#10;&#10;O conteúdo gerado por IA pode estar incorreto.">
            <a:extLst>
              <a:ext uri="{FF2B5EF4-FFF2-40B4-BE49-F238E27FC236}">
                <a16:creationId xmlns:a16="http://schemas.microsoft.com/office/drawing/2014/main" id="{C7D433CA-458E-BFB6-73F2-5270428E8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702" y="1141866"/>
            <a:ext cx="3762759" cy="564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71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pessoa, no interior, em pé, homem&#10;&#10;O conteúdo gerado por IA pode estar incorreto.">
            <a:extLst>
              <a:ext uri="{FF2B5EF4-FFF2-40B4-BE49-F238E27FC236}">
                <a16:creationId xmlns:a16="http://schemas.microsoft.com/office/drawing/2014/main" id="{931B735A-568C-7228-C628-E0A9C27E7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35" y="0"/>
            <a:ext cx="10300997" cy="686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8433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6404</TotalTime>
  <Words>2886</Words>
  <Application>Microsoft Office PowerPoint</Application>
  <PresentationFormat>Widescreen</PresentationFormat>
  <Paragraphs>316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4" baseType="lpstr">
      <vt:lpstr>Aptos</vt:lpstr>
      <vt:lpstr>Arial</vt:lpstr>
      <vt:lpstr>Symbol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BEATRIZ</dc:creator>
  <cp:lastModifiedBy>Emmanuel Zullo Godinho</cp:lastModifiedBy>
  <cp:revision>224</cp:revision>
  <dcterms:created xsi:type="dcterms:W3CDTF">2022-02-24T16:45:54Z</dcterms:created>
  <dcterms:modified xsi:type="dcterms:W3CDTF">2026-05-08T23:52:23Z</dcterms:modified>
</cp:coreProperties>
</file>